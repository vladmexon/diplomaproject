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7" r:id="rId4"/>
    <p:sldId id="261" r:id="rId5"/>
    <p:sldId id="274" r:id="rId6"/>
    <p:sldId id="262" r:id="rId7"/>
    <p:sldId id="264" r:id="rId8"/>
    <p:sldId id="263" r:id="rId9"/>
    <p:sldId id="278" r:id="rId10"/>
    <p:sldId id="268" r:id="rId11"/>
    <p:sldId id="265" r:id="rId12"/>
    <p:sldId id="276" r:id="rId13"/>
    <p:sldId id="277" r:id="rId14"/>
    <p:sldId id="269" r:id="rId15"/>
    <p:sldId id="279" r:id="rId16"/>
    <p:sldId id="280" r:id="rId17"/>
    <p:sldId id="271" r:id="rId18"/>
    <p:sldId id="270" r:id="rId19"/>
    <p:sldId id="272" r:id="rId20"/>
    <p:sldId id="266" r:id="rId21"/>
    <p:sldId id="260" r:id="rId22"/>
    <p:sldId id="275" r:id="rId23"/>
    <p:sldId id="273" r:id="rId2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dkSishXwXPOLq7/uFe+Y+f0xk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729" autoAdjust="0"/>
  </p:normalViewPr>
  <p:slideViewPr>
    <p:cSldViewPr snapToGrid="0">
      <p:cViewPr>
        <p:scale>
          <a:sx n="200" d="100"/>
          <a:sy n="200" d="100"/>
        </p:scale>
        <p:origin x="-966" y="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Я </a:t>
            </a:r>
            <a:r>
              <a:rPr lang="ru-RU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Мехоношин Владислав Антонович. Вам представляется выпускная квалификационная работа на тему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ru-RU" sz="12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системы оповещения сотрудников компании».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 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3600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Компания ООО «Веб Депо» занимается разработкой платформенных решений для предприятий.</a:t>
            </a:r>
          </a:p>
          <a:p>
            <a:pPr marL="0" indent="360000" algn="just">
              <a:spcBef>
                <a:spcPts val="0"/>
              </a:spcBef>
              <a:buSzPts val="1600"/>
              <a:buNone/>
            </a:pPr>
            <a:r>
              <a:rPr lang="ru-RU" sz="1200" dirty="0">
                <a:latin typeface="Arial"/>
                <a:ea typeface="Roboto"/>
                <a:cs typeface="Arial"/>
                <a:sym typeface="Arial"/>
              </a:rPr>
              <a:t>Периодически в компанию поступают заказы на систему повышающую эффективность внутрифирменной коммуникации.</a:t>
            </a:r>
          </a:p>
          <a:p>
            <a:pPr marL="0" indent="360000" algn="just">
              <a:spcBef>
                <a:spcPts val="0"/>
              </a:spcBef>
              <a:buSzPts val="1600"/>
              <a:buNone/>
            </a:pPr>
            <a:r>
              <a:rPr lang="ru-RU" sz="1200" dirty="0">
                <a:latin typeface="Arial"/>
                <a:ea typeface="Roboto"/>
                <a:cs typeface="Arial"/>
                <a:sym typeface="Arial"/>
              </a:rPr>
              <a:t>Типичные мессенджеры эти компании не устраивают. Также они заинтересованы в установке системы локально.</a:t>
            </a:r>
          </a:p>
          <a:p>
            <a:pPr marL="0" indent="360000" algn="just">
              <a:spcBef>
                <a:spcPts val="0"/>
              </a:spcBef>
              <a:buSzPts val="1600"/>
              <a:buNone/>
            </a:pPr>
            <a:r>
              <a:rPr lang="ru-RU" sz="1200" dirty="0">
                <a:latin typeface="Arial"/>
                <a:ea typeface="Roboto"/>
                <a:cs typeface="Arial"/>
                <a:sym typeface="Arial"/>
              </a:rPr>
              <a:t>Таким образом в компании Веб Депо было принято решение о выходе на рынок со своим продуктом.</a:t>
            </a:r>
          </a:p>
          <a:p>
            <a:pPr marL="0" indent="360000" algn="just">
              <a:spcBef>
                <a:spcPts val="0"/>
              </a:spcBef>
              <a:buSzPts val="1600"/>
              <a:buNone/>
            </a:pPr>
            <a:r>
              <a:rPr lang="ru-RU" sz="1200" dirty="0">
                <a:latin typeface="Arial"/>
                <a:ea typeface="Roboto"/>
                <a:cs typeface="Arial"/>
                <a:sym typeface="Arial"/>
              </a:rPr>
              <a:t>Для будущей регистрации системы в реестре российского ПО и получения прибыли.</a:t>
            </a: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Таким образом были выдвинуты цель и задачи.</a:t>
            </a:r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Для оценки конкурентоспособности и возможной корректировки требований, выдвигаемых к системе, были проанализированы популярные решения предоставляющие возможности для оповещения пользователей в корпоративной среде. 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Были рассмотрены следующие продукты: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Projecto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MyChat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и Microsoft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Teams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4151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 представленной на слайде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сравнительной таблицы можно сделать вывод о том что рассмотренные продукты не могут предоставить функционал массовой рассылки нестандартных уведомлений с возможностью встраивания в них заготовленных ответов и контролем осведомленности сотрудников в условиях запрета на установку дополнительного ПО и доступа во внешние сети.</a:t>
            </a: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901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100" dirty="0">
                <a:latin typeface="Roboto"/>
                <a:ea typeface="Roboto"/>
                <a:cs typeface="Roboto"/>
                <a:sym typeface="Roboto"/>
              </a:rPr>
              <a:t>В результате к системе были выдвинуты требования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100" dirty="0">
                <a:latin typeface="Roboto"/>
                <a:ea typeface="Roboto"/>
                <a:cs typeface="Roboto"/>
                <a:sym typeface="Roboto"/>
              </a:rPr>
              <a:t>соблюдение которых позволит создать конкурентоспособный продукт позволяющий увеличить эффективность внутрифирменной коммуникации.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2610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На данном слайде вы можете наблюдать диаграмму демонстрирующую ФУНКЦИОНАЛЬНЫЕ ВОЗМОЖНОСТИ. В системе выделено 2 основные роли: сотрудник и работник отдела кадров. Каждый сотрудник должен иметь возможность создать, сохранить в черновик, отправить уведомление, просмотреть список отправленных уведомлений, а также отреагировать на полученные им уведомления.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 свою очередь работник отдела кадров способен регистрировать в системе новых сотрудников и изменять их информацию.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2554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На основе требований о работе приложения в условиях запрета на установку дополнительного ПО, было принято решение о создании клиент серверного веб приложения.</a:t>
            </a: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API приложение является посредником между клиентом и базой данных предоставляя удобный интерфейс доступа к данным для клиента. Клиентом является одностраничное приложение статические файлы которого доставляются веб сервером. Сервер электронной почты служит для рассылки данных аутентификации новым сотрудникам.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3952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Таким образом база данных построена на базе СУБД </a:t>
            </a:r>
            <a:r>
              <a:rPr lang="en-US" dirty="0"/>
              <a:t>PostgreSQL, </a:t>
            </a:r>
            <a:r>
              <a:rPr lang="ru-RU" dirty="0"/>
              <a:t>серверная и клиентская часть построены с помощью среды выполнения </a:t>
            </a:r>
            <a:r>
              <a:rPr lang="en-US" dirty="0"/>
              <a:t>node.js, </a:t>
            </a:r>
            <a:r>
              <a:rPr lang="ru-RU" dirty="0"/>
              <a:t>но с использованием разных фреймворков. Для серверной части использовался </a:t>
            </a:r>
            <a:r>
              <a:rPr lang="en-US" dirty="0"/>
              <a:t>express.js</a:t>
            </a:r>
            <a:r>
              <a:rPr lang="ru-RU" dirty="0"/>
              <a:t>, а для клиентской </a:t>
            </a:r>
            <a:r>
              <a:rPr lang="en-US" dirty="0"/>
              <a:t>vue.js.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5323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На данном слайде вы можете видеть диаграмму базы данных. Центральными объектами в базе являются таблицы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employees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notifications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хранящие данные о пользователях и уведомлениях соответственно. Дополнительные данные об уведомлениях хранят таблицы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recipients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buttons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. Стоит отметить, что таблица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notification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хранит данные обо всех уведомлениях, не важно являются они черновиками или отправлены. При отправлении уведомления в таблице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sended_notification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хранятся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id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уведомления, отправителя и получателя.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Positions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хранит список возможных должностей.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Notification_types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все возможные типы уведомлений.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5724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Основой приложения на express.js являются роутеры(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router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) и промежуточные функции(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middleware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). Маршруты позволяют определить как приложение будет реагировать на запросы по тем или иным путям. К каждому из путей будет привязан список из промежуточных функций, занимающихся обработкой запроса.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 системе есть 2 роутера </a:t>
            </a:r>
            <a:r>
              <a:rPr lang="en-US" dirty="0" err="1"/>
              <a:t>authRouter</a:t>
            </a:r>
            <a:r>
              <a:rPr lang="ru-RU" dirty="0"/>
              <a:t> и </a:t>
            </a:r>
            <a:r>
              <a:rPr lang="en-US" dirty="0" err="1"/>
              <a:t>notificationRouter</a:t>
            </a:r>
            <a:r>
              <a:rPr lang="en-US" dirty="0"/>
              <a:t> </a:t>
            </a:r>
            <a:r>
              <a:rPr lang="ru-RU" dirty="0"/>
              <a:t>со своими списками путей.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В роутере </a:t>
            </a:r>
            <a:r>
              <a:rPr lang="en-US" dirty="0" err="1"/>
              <a:t>authRouter</a:t>
            </a:r>
            <a:r>
              <a:rPr lang="ru-RU" dirty="0"/>
              <a:t> описано все, что касается аутентификации и регистрации.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358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В роутере </a:t>
            </a:r>
            <a:r>
              <a:rPr lang="en-US" dirty="0" err="1"/>
              <a:t>notificationRouter</a:t>
            </a:r>
            <a:r>
              <a:rPr lang="ru-RU" dirty="0"/>
              <a:t> все что касается уведомлений и информации о них.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dirty="0"/>
              <a:t>Здесь представлена первая часть путей.</a:t>
            </a: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3766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А здесь продолжение. Всего 16 путей в данном роутере.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33033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Клиентская часть приложения реализована с использованием фреймворка vue.js. Данный фреймворк используется для создания пользовательских интерфейсов и предоставляет удобный способ их описания в виде компонентов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которые могут быть встроены и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переиспользованы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в других компонентах.</a:t>
            </a: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8183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Vuex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– библиотека предоставляющая возможность создания централизованного хранилища доступ к которому будет доступен в любом компоненте.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 них информация может храниться, обрабатываться и запрашиваться с помощью обращения к объекту 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API.</a:t>
            </a:r>
            <a:endParaRPr lang="ru-RU"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7401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Для взаимодействия с API используется библиотека </a:t>
            </a:r>
            <a:r>
              <a:rPr lang="ru-RU" sz="1200" dirty="0" err="1">
                <a:latin typeface="Roboto"/>
                <a:ea typeface="Roboto"/>
                <a:cs typeface="Roboto"/>
                <a:sym typeface="Roboto"/>
              </a:rPr>
              <a:t>axios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 предоставляющая расширенные возможности для описания запросов.</a:t>
            </a:r>
            <a:r>
              <a:rPr lang="en-US" sz="12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 частности обработку ошибок, подстановку заголовков и так далее.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В итоге компоненты отображают данные из хранилища. Сами хранилища служат для обработки данных а для получения данных хранилища обращаются к объекту API.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3704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На данном слайде вы можете видеть интерфейсы аутентификации и главной страницы. Страница аутентификации состоит из формы для ввода логина и пароля, а также кнопки «Войти». Главная страница состоит из 2 основных элементов: меню, и списка уведомлений. Меню используется для выбора типа отображаемых уведомлений и перехода между страницами приложения. А список уведомлений служит для отображения и взаимодействия с полученными уведомлениями.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9001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На данном слайде вы можете видеть интерфейс создания уведомлений и просмотра информации об отправленных уведомлениях. В окне создания уведомлений происходит ввод данных, выбор получателя и создание реакций. На странице отправленных уведомлений можно увидеть список отправленных пользователем уведомлений, сколько человек отреагировало и через сколько минут с момента отправки, а также просмотреть и отправить комментарии под уведомления.</a:t>
            </a: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Реакции представляют собой заготовленные ответы формируемы при создании уведомления. Они отображаются под уведомлением в виде кнопок по нажатию на которые будет отправлено заготовленное для этого ответа уведомление.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4380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>
                <a:latin typeface="Roboto"/>
                <a:ea typeface="Roboto"/>
                <a:cs typeface="Roboto"/>
                <a:sym typeface="Roboto"/>
              </a:rPr>
              <a:t>На данном слайде вы можете видеть интерфейс регистрации новых пользователей. Он доступен только пользователям с определенными ролями, по задумке ими должны являться сотрудники отдела кадров. После регистрации на указанную электронную почту придут данные для аутентификации. Также на странице можно изменить данные зарегистрированных пользователей.</a:t>
            </a: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1743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ходе написания ВКР была проанализирована и описана информационная система и её конкуренты.</a:t>
            </a: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ходе проектирования системы была описана её структура, функционал и процессы, происходящие как при взаимодействии между пользователем и системой, так и между элементами самой системы.</a:t>
            </a:r>
            <a:endParaRPr lang="ru-RU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36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Был описан процесс разработки базы данных, серверной части и клиентской части приложения.</a:t>
            </a:r>
          </a:p>
          <a:p>
            <a:pPr marL="0" indent="360000">
              <a:spcBef>
                <a:spcPts val="0"/>
              </a:spcBef>
              <a:buSzPts val="2000"/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конечном итоге было приведено технико-экономическое обоснование проекта, определение класса защищенности системы, функциональное тестирование.</a:t>
            </a:r>
          </a:p>
          <a:p>
            <a:pPr marL="0" indent="360000">
              <a:spcBef>
                <a:spcPts val="0"/>
              </a:spcBef>
              <a:buSzPts val="2000"/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дальнейшем планируется работа над интерфейсом веб приложения, расширением возможностей рассылки оповещений, проработка мер для обеспечения защиты информации и предоставление возможности прикрепления документов к уведомлениям 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805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Вполне вероятно, что разрабатываемая система будет использоваться на предприятиях государственного сектора, поэтому она подчиняется приказу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ФСТЭК«Об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утверждении требований о защите информации, не составляющей государственную тайну, содержащейся в государственных информационных системах».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Доступ к системе имеют только аутентифицированные пользователи. Регистрация новых пользователей и управление их данными в системе доступно для работников отдела кадром имеющих, соответствующие права доступа.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Целостность информации обеспечивается валидацией вводимых пользователем данных как на стороне клиента, так и на стороне сервера. 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защиты от несанкционированного доступа к системе должен применяться перечень технических и организационных мер.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Также повышение уровня защитности может обеспечить возможность установки системы локально, без доступа к внешней сети.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Тщательной проработки требуют части системы касающиеся:</a:t>
            </a: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хранения событий безопасности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обнаружения вторжений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ограничения неуспешных попыток аутентификации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резервного копирования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85719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360000">
              <a:spcAft>
                <a:spcPts val="1000"/>
              </a:spcAft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Целью создаваемой системы является повышение эффективности сотрудников компании за счет использования «реакций» и возможности массовой рассылки оповещений. В конечном итоге ожидается снижение времени на взаимодействие между сотрудниками до 50%.</a:t>
            </a:r>
            <a:endParaRPr lang="ru-RU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360000">
              <a:spcAft>
                <a:spcPts val="1000"/>
              </a:spcAft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Если допустить, что сотрудники в среднем тратят 1 час в день на взаимодействие между собой, а в году 200 рабочих дней, то при средней стоимости часа работы в 300р затраты на взаимодействие сотрудников составляют 60000р в год</a:t>
            </a:r>
            <a:r>
              <a:rPr lang="en-US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человека.</a:t>
            </a:r>
          </a:p>
          <a:p>
            <a:pPr marL="0" indent="360000">
              <a:spcAft>
                <a:spcPts val="1000"/>
              </a:spcAft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 снижении времени взаимодействия на 50% получается экономия 30000р в год за каждого сотрудника.</a:t>
            </a:r>
          </a:p>
          <a:p>
            <a:pPr marL="0" indent="360000">
              <a:spcAft>
                <a:spcPts val="1000"/>
              </a:spcAft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Предположим, что в компании работает 50 человек. Таким образом компания сможет экономить </a:t>
            </a:r>
            <a:r>
              <a:rPr lang="ru-RU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 </a:t>
            </a: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1500000р в год.</a:t>
            </a:r>
          </a:p>
          <a:p>
            <a:pPr marL="0" indent="360000">
              <a:spcAft>
                <a:spcPts val="1000"/>
              </a:spcAft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 стоимости программы в 500000р и всей требуемой инфраструктуры в 1000000р. Срок окупаемости составит от 1,5 лет. </a:t>
            </a:r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708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0" y="2089500"/>
            <a:ext cx="91440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>
                <a:latin typeface="Roboto"/>
                <a:ea typeface="Roboto"/>
                <a:cs typeface="Roboto"/>
                <a:sym typeface="Roboto"/>
              </a:rPr>
              <a:t>ВЫПУСКНАЯ КВАЛИФИКАЦИОННАЯ РАБОТА</a:t>
            </a:r>
            <a:br>
              <a:rPr lang="ru-RU" sz="2400" b="1">
                <a:latin typeface="Roboto"/>
                <a:ea typeface="Roboto"/>
                <a:cs typeface="Roboto"/>
                <a:sym typeface="Roboto"/>
              </a:rPr>
            </a:br>
            <a:r>
              <a:rPr lang="ru-RU" sz="1600">
                <a:latin typeface="Roboto"/>
                <a:ea typeface="Roboto"/>
                <a:cs typeface="Roboto"/>
                <a:sym typeface="Roboto"/>
              </a:rPr>
              <a:t>на соискание академической степени бакалавра</a:t>
            </a:r>
            <a:br>
              <a:rPr lang="ru-RU" sz="1600">
                <a:latin typeface="Roboto"/>
                <a:ea typeface="Roboto"/>
                <a:cs typeface="Roboto"/>
                <a:sym typeface="Roboto"/>
              </a:rPr>
            </a:br>
            <a:r>
              <a:rPr lang="ru-RU" sz="1600">
                <a:latin typeface="Roboto"/>
                <a:ea typeface="Roboto"/>
                <a:cs typeface="Roboto"/>
                <a:sym typeface="Roboto"/>
              </a:rPr>
              <a:t>на тему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5652120" y="3416920"/>
            <a:ext cx="34920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Выполнил: студент группы РИС-20-2б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Мехоношин Владислав Антонович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Руководитель ВКР: </a:t>
            </a:r>
            <a:endParaRPr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ст. преп., Кузнецов Денис Борисович</a:t>
            </a:r>
            <a:endParaRPr sz="1400" dirty="0"/>
          </a:p>
        </p:txBody>
      </p:sp>
      <p:sp>
        <p:nvSpPr>
          <p:cNvPr id="90" name="Google Shape;90;p1"/>
          <p:cNvSpPr/>
          <p:nvPr/>
        </p:nvSpPr>
        <p:spPr>
          <a:xfrm>
            <a:off x="890786" y="1059582"/>
            <a:ext cx="721518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Министерство науки и высшего образования Российской Федерации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Федеральное государственное автономное образовательное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учреждение высшего образования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ПЕРМСКИЙ НАЦИОНАЛЬНЫЙ ИССЛЕДОВАТЕЛЬСКИЙ </a:t>
            </a:r>
            <a:endParaRPr sz="1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ПОЛИТЕХНИЧЕСКИЙ УНИВЕРСИТЕТ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Кафедра ИТАС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-3" y="301682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ru-RU" sz="2000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Разработка системы оповещения сотрудников компании»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895726" y="4661297"/>
            <a:ext cx="12827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Пермь - 202</a:t>
            </a:r>
            <a:r>
              <a:rPr lang="en-US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АКУТУАЛЬНОСТЬ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808347-F483-0BFA-4ADB-094314B196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45424" y="475089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r>
              <a:rPr lang="en-US" dirty="0"/>
              <a:t>/21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444840-ABCE-4389-7813-6C4875B7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169" y="2026553"/>
            <a:ext cx="2023705" cy="1377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583FE5-6771-5843-635B-04BAF6DADB22}"/>
              </a:ext>
            </a:extLst>
          </p:cNvPr>
          <p:cNvSpPr txBox="1"/>
          <p:nvPr/>
        </p:nvSpPr>
        <p:spPr>
          <a:xfrm>
            <a:off x="5789377" y="3404135"/>
            <a:ext cx="3189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Логотип компании ООО «Веб Депо»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3B485-95D9-B807-84F8-D75980C869AD}"/>
              </a:ext>
            </a:extLst>
          </p:cNvPr>
          <p:cNvSpPr txBox="1"/>
          <p:nvPr/>
        </p:nvSpPr>
        <p:spPr>
          <a:xfrm>
            <a:off x="388620" y="2326917"/>
            <a:ext cx="4861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От системы требуется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Использование технологий с отрытым исходным кодом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Конкурентоспособность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системы в условиях запрета на установку дополнительного ПО и доступа во внешние сети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5076056" y="483518"/>
            <a:ext cx="3754760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357189" y="1203598"/>
            <a:ext cx="84297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 b="1" dirty="0">
                <a:latin typeface="Roboto"/>
                <a:ea typeface="Roboto"/>
                <a:cs typeface="Roboto"/>
                <a:sym typeface="Roboto"/>
              </a:rPr>
              <a:t>Цель работы:</a:t>
            </a:r>
            <a:r>
              <a:rPr lang="ru-RU" sz="1600" dirty="0">
                <a:latin typeface="Roboto"/>
                <a:ea typeface="Roboto"/>
                <a:cs typeface="Roboto"/>
                <a:sym typeface="Roboto"/>
              </a:rPr>
              <a:t> повышение эффективности внутрифирменной коммуникации и оперативного информирования персонала о важных событиях и изменениях.</a:t>
            </a:r>
            <a:endParaRPr lang="en-US" sz="16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1600" b="1" dirty="0">
                <a:latin typeface="Roboto"/>
                <a:ea typeface="Roboto"/>
                <a:cs typeface="Roboto"/>
                <a:sym typeface="Roboto"/>
              </a:rPr>
              <a:t>Задачи работы:</a:t>
            </a:r>
            <a:endParaRPr lang="en-US" sz="1600" b="1" dirty="0"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обследовать существующие типовые процессы сотрудников компаний: об информировании о происшествиях, задачах и встречах,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проанализировать существующие системы оповещения,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сформулировать требования к системе оповещения сотрудников,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разработать техническое задание на создание системы оповещения, разработать прототип системы, </a:t>
            </a:r>
          </a:p>
          <a:p>
            <a:pPr>
              <a:spcAft>
                <a:spcPts val="1000"/>
              </a:spcAft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провести функциональное тестирование.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2349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BF69BE-BBD0-F394-CB53-549E9B5214D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07723" y="4738676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r>
              <a:rPr lang="en-US" dirty="0"/>
              <a:t>/21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3427141" y="483518"/>
            <a:ext cx="5403675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КОНКУРЕНТОСПОСОБНОСТЬ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E965D7-A9FD-9FC8-8C15-3FDE19A2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17" y="1275799"/>
            <a:ext cx="4230176" cy="2122812"/>
          </a:xfrm>
          <a:prstGeom prst="rect">
            <a:avLst/>
          </a:prstGeom>
        </p:spPr>
      </p:pic>
      <p:pic>
        <p:nvPicPr>
          <p:cNvPr id="1026" name="Picture 2" descr="MyChat 8.0">
            <a:extLst>
              <a:ext uri="{FF2B5EF4-FFF2-40B4-BE49-F238E27FC236}">
                <a16:creationId xmlns:a16="http://schemas.microsoft.com/office/drawing/2014/main" id="{217DB8B7-637B-2649-659D-7BE0AAE6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405" y="2215756"/>
            <a:ext cx="4028359" cy="236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nnouncing the Microsoft Teams Developer Preview - Microsoft 365 Developer  Blog">
            <a:extLst>
              <a:ext uri="{FF2B5EF4-FFF2-40B4-BE49-F238E27FC236}">
                <a16:creationId xmlns:a16="http://schemas.microsoft.com/office/drawing/2014/main" id="{788CF55B-603C-4A0D-7715-0C5EAC529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009" y="1204229"/>
            <a:ext cx="4028359" cy="2265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6D1BC6-D355-0182-1E18-B9C192FF87DD}"/>
              </a:ext>
            </a:extLst>
          </p:cNvPr>
          <p:cNvSpPr txBox="1"/>
          <p:nvPr/>
        </p:nvSpPr>
        <p:spPr>
          <a:xfrm>
            <a:off x="184731" y="3404480"/>
            <a:ext cx="3194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Projecto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75E275-A2CC-3555-3802-020A478C58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19764" y="4779003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r>
              <a:rPr lang="en-US" dirty="0"/>
              <a:t>/21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EA86D8-576F-13A7-B870-4777E0D4AF06}"/>
              </a:ext>
            </a:extLst>
          </p:cNvPr>
          <p:cNvSpPr txBox="1"/>
          <p:nvPr/>
        </p:nvSpPr>
        <p:spPr>
          <a:xfrm>
            <a:off x="2791405" y="4554406"/>
            <a:ext cx="3194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MyChat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3AC6C-4357-7EE2-913C-CEE587355A39}"/>
              </a:ext>
            </a:extLst>
          </p:cNvPr>
          <p:cNvSpPr txBox="1"/>
          <p:nvPr/>
        </p:nvSpPr>
        <p:spPr>
          <a:xfrm>
            <a:off x="6819764" y="3415061"/>
            <a:ext cx="3194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Microsoft Teams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82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3427141" y="483518"/>
            <a:ext cx="5403675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КОНКУРЕНТОСПОСОБНОСТЬ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75E275-A2CC-3555-3802-020A478C58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19764" y="4779003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r>
              <a:rPr lang="en-US" dirty="0"/>
              <a:t>/21</a:t>
            </a:r>
            <a:endParaRPr lang="ru-RU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CE500E0-AB20-2C8F-F4C3-6439E85E2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249787"/>
              </p:ext>
            </p:extLst>
          </p:nvPr>
        </p:nvGraphicFramePr>
        <p:xfrm>
          <a:off x="1603375" y="1146953"/>
          <a:ext cx="5937250" cy="3978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3582225156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1885199806"/>
                    </a:ext>
                  </a:extLst>
                </a:gridCol>
                <a:gridCol w="1428115">
                  <a:extLst>
                    <a:ext uri="{9D8B030D-6E8A-4147-A177-3AD203B41FA5}">
                      <a16:colId xmlns:a16="http://schemas.microsoft.com/office/drawing/2014/main" val="33735821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3151973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 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Projecto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MyChat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Microsoft Teams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691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Массовая рассылка оповещений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 dirty="0">
                          <a:effectLst/>
                        </a:rPr>
                        <a:t>+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 dirty="0">
                          <a:effectLst/>
                        </a:rPr>
                        <a:t>+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 dirty="0">
                          <a:effectLst/>
                        </a:rPr>
                        <a:t>+/-(</a:t>
                      </a:r>
                      <a:r>
                        <a:rPr lang="ru-RU" sz="800" dirty="0">
                          <a:effectLst/>
                        </a:rPr>
                        <a:t>только в групповых чатах</a:t>
                      </a:r>
                      <a:r>
                        <a:rPr lang="en-US" sz="800" dirty="0">
                          <a:effectLst/>
                        </a:rPr>
                        <a:t>)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4478302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C1EDDE0B-79D7-CB2E-C942-AC72EE5C7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867893"/>
              </p:ext>
            </p:extLst>
          </p:nvPr>
        </p:nvGraphicFramePr>
        <p:xfrm>
          <a:off x="1603375" y="1557073"/>
          <a:ext cx="5937250" cy="33940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1349">
                  <a:extLst>
                    <a:ext uri="{9D8B030D-6E8A-4147-A177-3AD203B41FA5}">
                      <a16:colId xmlns:a16="http://schemas.microsoft.com/office/drawing/2014/main" val="2438274065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453777189"/>
                    </a:ext>
                  </a:extLst>
                </a:gridCol>
                <a:gridCol w="1428116">
                  <a:extLst>
                    <a:ext uri="{9D8B030D-6E8A-4147-A177-3AD203B41FA5}">
                      <a16:colId xmlns:a16="http://schemas.microsoft.com/office/drawing/2014/main" val="3303270688"/>
                    </a:ext>
                  </a:extLst>
                </a:gridCol>
                <a:gridCol w="1290955">
                  <a:extLst>
                    <a:ext uri="{9D8B030D-6E8A-4147-A177-3AD203B41FA5}">
                      <a16:colId xmlns:a16="http://schemas.microsoft.com/office/drawing/2014/main" val="628743713"/>
                    </a:ext>
                  </a:extLst>
                </a:gridCol>
              </a:tblGrid>
              <a:tr h="62742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Возможность привязки реакций к уведомлениям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</a:rPr>
                        <a:t>+/-(реакции есть только в заготовленных уведомлениях)</a:t>
                      </a:r>
                      <a:endParaRPr lang="ru-RU" sz="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ru-RU" sz="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endParaRPr lang="ru-RU" sz="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93706"/>
                  </a:ext>
                </a:extLst>
              </a:tr>
              <a:tr h="62742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Возможность контроля осведомленности сотрудников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r>
                        <a:rPr lang="en-US" sz="800">
                          <a:effectLst/>
                        </a:rPr>
                        <a:t>/-(</a:t>
                      </a:r>
                      <a:r>
                        <a:rPr lang="ru-RU" sz="800">
                          <a:effectLst/>
                        </a:rPr>
                        <a:t>значок о прочтении сообщения</a:t>
                      </a:r>
                      <a:r>
                        <a:rPr lang="en-US" sz="800">
                          <a:effectLst/>
                        </a:rPr>
                        <a:t>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extLst>
                  <a:ext uri="{0D108BD9-81ED-4DB2-BD59-A6C34878D82A}">
                    <a16:rowId xmlns:a16="http://schemas.microsoft.com/office/drawing/2014/main" val="79831673"/>
                  </a:ext>
                </a:extLst>
              </a:tr>
              <a:tr h="53480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Возможность интеграции с уже имеющимися системами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+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 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extLst>
                  <a:ext uri="{0D108BD9-81ED-4DB2-BD59-A6C34878D82A}">
                    <a16:rowId xmlns:a16="http://schemas.microsoft.com/office/drawing/2014/main" val="3530162613"/>
                  </a:ext>
                </a:extLst>
              </a:tr>
              <a:tr h="26194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Гибкость благодаря настройкам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extLst>
                  <a:ext uri="{0D108BD9-81ED-4DB2-BD59-A6C34878D82A}">
                    <a16:rowId xmlns:a16="http://schemas.microsoft.com/office/drawing/2014/main" val="4209354672"/>
                  </a:ext>
                </a:extLst>
              </a:tr>
              <a:tr h="39837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Взаимодействие сотрудников по средствам сообщений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+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extLst>
                  <a:ext uri="{0D108BD9-81ED-4DB2-BD59-A6C34878D82A}">
                    <a16:rowId xmlns:a16="http://schemas.microsoft.com/office/drawing/2014/main" val="3575360808"/>
                  </a:ext>
                </a:extLst>
              </a:tr>
              <a:tr h="9440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Возможность использования в условиях запрета на установку дополнительного ПО и доступа во внешние сети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-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-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-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32" marR="38132" marT="0" marB="0"/>
                </a:tc>
                <a:extLst>
                  <a:ext uri="{0D108BD9-81ED-4DB2-BD59-A6C34878D82A}">
                    <a16:rowId xmlns:a16="http://schemas.microsoft.com/office/drawing/2014/main" val="188987530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C788881-8A04-1598-1756-45686A707887}"/>
              </a:ext>
            </a:extLst>
          </p:cNvPr>
          <p:cNvSpPr txBox="1"/>
          <p:nvPr/>
        </p:nvSpPr>
        <p:spPr>
          <a:xfrm>
            <a:off x="1502785" y="4893984"/>
            <a:ext cx="6759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Сравнительная таблица рассмотренных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1207958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497659" y="483518"/>
            <a:ext cx="4333157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ТРЕБОВАНИЯ К СИСТЕМЕ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D5FDE3C-895A-F7AA-7B2B-C23D3E14CB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788727" y="475089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r>
              <a:rPr lang="en-US" dirty="0"/>
              <a:t>/21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22FD61A-CAFE-84E7-4567-7056F744A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205151"/>
              </p:ext>
            </p:extLst>
          </p:nvPr>
        </p:nvGraphicFramePr>
        <p:xfrm>
          <a:off x="1492986" y="1098138"/>
          <a:ext cx="6009346" cy="147495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698">
                  <a:extLst>
                    <a:ext uri="{9D8B030D-6E8A-4147-A177-3AD203B41FA5}">
                      <a16:colId xmlns:a16="http://schemas.microsoft.com/office/drawing/2014/main" val="1068822104"/>
                    </a:ext>
                  </a:extLst>
                </a:gridCol>
                <a:gridCol w="3976648">
                  <a:extLst>
                    <a:ext uri="{9D8B030D-6E8A-4147-A177-3AD203B41FA5}">
                      <a16:colId xmlns:a16="http://schemas.microsoft.com/office/drawing/2014/main" val="1876177410"/>
                    </a:ext>
                  </a:extLst>
                </a:gridCol>
              </a:tblGrid>
              <a:tr h="12259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Требование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Описание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8481294"/>
                  </a:ext>
                </a:extLst>
              </a:tr>
              <a:tr h="35822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Массовая рассылка оповещений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>
                          <a:effectLst/>
                        </a:rPr>
                        <a:t>Возможность массовой рассылки уведомлений благодаря делению по отделам и должностям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3968198"/>
                  </a:ext>
                </a:extLst>
              </a:tr>
              <a:tr h="97182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Возможность привязки реакций к уведомлениям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При создании уведомления должна быть возможность добавить к нему реакцию. То есть кнопку, имеющую отображающийся на ней текст и привязанную к другому уведомлению, которое будет отправлено по нажатию на неё. А при отсутствии привязанных реакций у получателя отображается одна реакция «прочитать».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8987493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8B9793B6-0081-EB59-9272-7D0A34385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291884"/>
              </p:ext>
            </p:extLst>
          </p:nvPr>
        </p:nvGraphicFramePr>
        <p:xfrm>
          <a:off x="1492986" y="2563879"/>
          <a:ext cx="6009346" cy="23267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698">
                  <a:extLst>
                    <a:ext uri="{9D8B030D-6E8A-4147-A177-3AD203B41FA5}">
                      <a16:colId xmlns:a16="http://schemas.microsoft.com/office/drawing/2014/main" val="192826190"/>
                    </a:ext>
                  </a:extLst>
                </a:gridCol>
                <a:gridCol w="3976648">
                  <a:extLst>
                    <a:ext uri="{9D8B030D-6E8A-4147-A177-3AD203B41FA5}">
                      <a16:colId xmlns:a16="http://schemas.microsoft.com/office/drawing/2014/main" val="1646290289"/>
                    </a:ext>
                  </a:extLst>
                </a:gridCol>
              </a:tblGrid>
              <a:tr h="6759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Возможность контроля осведомленности сотрудников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Контроль осведомленности сотрудников должен производиться по прочтению уведомлений. Уведомление может считаться прочитанным если сотрудник отреагировал на него. Сотрудник, отправивший уведомление должен иметь возможность просмотреть процент и список отреагировавших. Аналитик должен иметь возможность просмотреть ту же информацию по всем уведомлениям в системе.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89089"/>
                  </a:ext>
                </a:extLst>
              </a:tr>
              <a:tr h="33336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Возможность интеграции с уже имеющимися системами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Вполне вероятно, что у копания собирающейся интегрировать данный продукт уже есть система учета сотрудников. Поэтому итоговая система должна иметь модульную структуру, позволяющую легко вносить в нее изменения.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04176"/>
                  </a:ext>
                </a:extLst>
              </a:tr>
              <a:tr h="33336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Гибкость благодаря настройкам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Из-за того, что создаваемы продукт создается не для конкретной организации. Должна быть возможность занесения в систему списка должностей, отделов, видов уведомлений.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331293"/>
                  </a:ext>
                </a:extLst>
              </a:tr>
              <a:tr h="21916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Взаимодействие сотрудников по средствам сообщений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Взаимодействие сотрудников по средствам текстовых сообщений.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110342"/>
                  </a:ext>
                </a:extLst>
              </a:tr>
              <a:tr h="38024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Возможность использования в условиях запрета на установку дополнительного ПО и доступа во внешние сети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800" dirty="0">
                          <a:effectLst/>
                        </a:rPr>
                        <a:t>Возможность установки и использования системы локально без установки дополнительного ПО.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371" marR="34371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386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564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ФУНКЦИОНАЛЬНЫЕ ВОЗМОЖНОСТИ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820933-AF19-A552-2495-B99216A4A6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0" y="1295908"/>
            <a:ext cx="7878928" cy="31106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0CCACD-FCFC-9E3D-EF5F-2F27237B55B6}"/>
              </a:ext>
            </a:extLst>
          </p:cNvPr>
          <p:cNvSpPr txBox="1"/>
          <p:nvPr/>
        </p:nvSpPr>
        <p:spPr>
          <a:xfrm>
            <a:off x="3345366" y="4506093"/>
            <a:ext cx="3062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USE-CASE </a:t>
            </a:r>
            <a:r>
              <a:rPr lang="ru-RU" dirty="0"/>
              <a:t>диаграмма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3B6BD2-1557-CC12-3685-62E031EAE5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779443" y="4768209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764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598039" y="483518"/>
            <a:ext cx="4232777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АРХИТЕКТУРА СИСТЕМЫ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2AF84F-38F2-1DA0-8BFB-5086BAF09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371" y="1140320"/>
            <a:ext cx="4998725" cy="35812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2E2F14-8FA2-FA8E-4A83-4B90445BF8CA}"/>
              </a:ext>
            </a:extLst>
          </p:cNvPr>
          <p:cNvSpPr txBox="1"/>
          <p:nvPr/>
        </p:nvSpPr>
        <p:spPr>
          <a:xfrm>
            <a:off x="1869371" y="1140320"/>
            <a:ext cx="3040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С4 диаграмма системы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B1D4F5-984E-658C-E199-B5F1790921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68096" y="4760832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501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СТЭК ТЕХНОЛОГИЙ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3B6BD2-1557-CC12-3685-62E031EAE5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779443" y="4768209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r>
              <a:rPr lang="en-US" dirty="0"/>
              <a:t>/21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CD8DA2-6A11-FA0B-DF5C-CA4AA5157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947" y="1176370"/>
            <a:ext cx="5490106" cy="340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5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5AA0AB-625A-B2FD-53CC-89C38423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30" y="1100530"/>
            <a:ext cx="6378476" cy="3741072"/>
          </a:xfrm>
          <a:prstGeom prst="rect">
            <a:avLst/>
          </a:prstGeom>
        </p:spPr>
      </p:pic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БАЗА ДАННЫХ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5D210-AD23-F68A-BBDA-6D7015A46550}"/>
              </a:ext>
            </a:extLst>
          </p:cNvPr>
          <p:cNvSpPr txBox="1"/>
          <p:nvPr/>
        </p:nvSpPr>
        <p:spPr>
          <a:xfrm>
            <a:off x="1468243" y="4835723"/>
            <a:ext cx="26837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 </a:t>
            </a:r>
            <a:r>
              <a:rPr lang="ru-RU" dirty="0"/>
              <a:t>диаграмма базы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1364D-984D-FE9E-F35B-628D0A4A9C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45431" y="4775700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640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СЕРВЕРНАЯ ЧАСТЬ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1029E6C-F1FA-E403-2510-383EA29D8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615243"/>
              </p:ext>
            </p:extLst>
          </p:nvPr>
        </p:nvGraphicFramePr>
        <p:xfrm>
          <a:off x="1512213" y="1304595"/>
          <a:ext cx="5511630" cy="36160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8578">
                  <a:extLst>
                    <a:ext uri="{9D8B030D-6E8A-4147-A177-3AD203B41FA5}">
                      <a16:colId xmlns:a16="http://schemas.microsoft.com/office/drawing/2014/main" val="1228508444"/>
                    </a:ext>
                  </a:extLst>
                </a:gridCol>
                <a:gridCol w="1325464">
                  <a:extLst>
                    <a:ext uri="{9D8B030D-6E8A-4147-A177-3AD203B41FA5}">
                      <a16:colId xmlns:a16="http://schemas.microsoft.com/office/drawing/2014/main" val="3188227940"/>
                    </a:ext>
                  </a:extLst>
                </a:gridCol>
                <a:gridCol w="1314423">
                  <a:extLst>
                    <a:ext uri="{9D8B030D-6E8A-4147-A177-3AD203B41FA5}">
                      <a16:colId xmlns:a16="http://schemas.microsoft.com/office/drawing/2014/main" val="686120645"/>
                    </a:ext>
                  </a:extLst>
                </a:gridCol>
                <a:gridCol w="1273165">
                  <a:extLst>
                    <a:ext uri="{9D8B030D-6E8A-4147-A177-3AD203B41FA5}">
                      <a16:colId xmlns:a16="http://schemas.microsoft.com/office/drawing/2014/main" val="2361384605"/>
                    </a:ext>
                  </a:extLst>
                </a:gridCol>
              </a:tblGrid>
              <a:tr h="15137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Путь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Принимает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Возвращает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Описание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extLst>
                  <a:ext uri="{0D108BD9-81ED-4DB2-BD59-A6C34878D82A}">
                    <a16:rowId xmlns:a16="http://schemas.microsoft.com/office/drawing/2014/main" val="3497690097"/>
                  </a:ext>
                </a:extLst>
              </a:tr>
              <a:tr h="67104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login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Json </a:t>
                      </a:r>
                      <a:r>
                        <a:rPr lang="ru-RU" sz="900" dirty="0">
                          <a:effectLst/>
                        </a:rPr>
                        <a:t>содержащий логи и пароль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Cookie </a:t>
                      </a:r>
                      <a:r>
                        <a:rPr lang="ru-RU" sz="900">
                          <a:effectLst/>
                        </a:rPr>
                        <a:t>с </a:t>
                      </a:r>
                      <a:r>
                        <a:rPr lang="en-US" sz="900">
                          <a:effectLst/>
                        </a:rPr>
                        <a:t>refresh </a:t>
                      </a:r>
                      <a:r>
                        <a:rPr lang="ru-RU" sz="900">
                          <a:effectLst/>
                        </a:rPr>
                        <a:t>токеном и </a:t>
                      </a:r>
                      <a:r>
                        <a:rPr lang="en-US" sz="900">
                          <a:effectLst/>
                        </a:rPr>
                        <a:t>Json </a:t>
                      </a:r>
                      <a:r>
                        <a:rPr lang="ru-RU" sz="900">
                          <a:effectLst/>
                        </a:rPr>
                        <a:t>объект с </a:t>
                      </a:r>
                      <a:r>
                        <a:rPr lang="en-US" sz="900">
                          <a:effectLst/>
                        </a:rPr>
                        <a:t>access </a:t>
                      </a:r>
                      <a:r>
                        <a:rPr lang="ru-RU" sz="900">
                          <a:effectLst/>
                        </a:rPr>
                        <a:t>токеном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аутентификации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пользователей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extLst>
                  <a:ext uri="{0D108BD9-81ED-4DB2-BD59-A6C34878D82A}">
                    <a16:rowId xmlns:a16="http://schemas.microsoft.com/office/drawing/2014/main" val="331493372"/>
                  </a:ext>
                </a:extLst>
              </a:tr>
              <a:tr h="3603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register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Json </a:t>
                      </a:r>
                      <a:r>
                        <a:rPr lang="ru-RU" sz="900">
                          <a:effectLst/>
                        </a:rPr>
                        <a:t>с данными сотрудника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Статус запроса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регистрации пользователей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extLst>
                  <a:ext uri="{0D108BD9-81ED-4DB2-BD59-A6C34878D82A}">
                    <a16:rowId xmlns:a16="http://schemas.microsoft.com/office/drawing/2014/main" val="176114337"/>
                  </a:ext>
                </a:extLst>
              </a:tr>
              <a:tr h="60716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logout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Refresh </a:t>
                      </a:r>
                      <a:r>
                        <a:rPr lang="ru-RU" sz="900" dirty="0">
                          <a:effectLst/>
                        </a:rPr>
                        <a:t>токен из с</a:t>
                      </a:r>
                      <a:r>
                        <a:rPr lang="en-US" sz="900" dirty="0" err="1">
                          <a:effectLst/>
                        </a:rPr>
                        <a:t>ookie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Статус запроса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удаления </a:t>
                      </a:r>
                      <a:r>
                        <a:rPr lang="en-US" sz="900">
                          <a:effectLst/>
                        </a:rPr>
                        <a:t>refresh </a:t>
                      </a:r>
                      <a:r>
                        <a:rPr lang="ru-RU" sz="900">
                          <a:effectLst/>
                        </a:rPr>
                        <a:t>токена при выходе из приложения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extLst>
                  <a:ext uri="{0D108BD9-81ED-4DB2-BD59-A6C34878D82A}">
                    <a16:rowId xmlns:a16="http://schemas.microsoft.com/office/drawing/2014/main" val="3658884014"/>
                  </a:ext>
                </a:extLst>
              </a:tr>
              <a:tr h="3603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refresh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Refresh </a:t>
                      </a:r>
                      <a:r>
                        <a:rPr lang="ru-RU" sz="900">
                          <a:effectLst/>
                        </a:rPr>
                        <a:t>токен из с</a:t>
                      </a:r>
                      <a:r>
                        <a:rPr lang="en-US" sz="900">
                          <a:effectLst/>
                        </a:rPr>
                        <a:t>ookie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Refresh </a:t>
                      </a:r>
                      <a:r>
                        <a:rPr lang="ru-RU" sz="900">
                          <a:effectLst/>
                        </a:rPr>
                        <a:t>и </a:t>
                      </a:r>
                      <a:r>
                        <a:rPr lang="en-US" sz="900">
                          <a:effectLst/>
                        </a:rPr>
                        <a:t>access </a:t>
                      </a:r>
                      <a:r>
                        <a:rPr lang="ru-RU" sz="900">
                          <a:effectLst/>
                        </a:rPr>
                        <a:t>токены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обновления пары токенов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extLst>
                  <a:ext uri="{0D108BD9-81ED-4DB2-BD59-A6C34878D82A}">
                    <a16:rowId xmlns:a16="http://schemas.microsoft.com/office/drawing/2014/main" val="3852905931"/>
                  </a:ext>
                </a:extLst>
              </a:tr>
              <a:tr h="60716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getUsersData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последнего полученного пользователя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Данные пользователей </a:t>
                      </a:r>
                      <a:r>
                        <a:rPr lang="en-US" sz="900" dirty="0">
                          <a:effectLst/>
                        </a:rPr>
                        <a:t>id </a:t>
                      </a:r>
                      <a:r>
                        <a:rPr lang="ru-RU" sz="900" dirty="0">
                          <a:effectLst/>
                        </a:rPr>
                        <a:t>которых меньше полученного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Для получения данных пользователей на странице регистрации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extLst>
                  <a:ext uri="{0D108BD9-81ED-4DB2-BD59-A6C34878D82A}">
                    <a16:rowId xmlns:a16="http://schemas.microsoft.com/office/drawing/2014/main" val="750037685"/>
                  </a:ext>
                </a:extLst>
              </a:tr>
              <a:tr h="60716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updateRecipientsInfo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Данные пользователей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Статус запроса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Обновление данных пользователей на странице регистрации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895" marR="34895" marT="0" marB="0"/>
                </a:tc>
                <a:extLst>
                  <a:ext uri="{0D108BD9-81ED-4DB2-BD59-A6C34878D82A}">
                    <a16:rowId xmlns:a16="http://schemas.microsoft.com/office/drawing/2014/main" val="29716643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E013E0-666E-E78E-B8B2-F1FD4D72B8E5}"/>
              </a:ext>
            </a:extLst>
          </p:cNvPr>
          <p:cNvSpPr txBox="1"/>
          <p:nvPr/>
        </p:nvSpPr>
        <p:spPr>
          <a:xfrm>
            <a:off x="1394691" y="1030670"/>
            <a:ext cx="3036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Пути в роутере </a:t>
            </a:r>
            <a:r>
              <a:rPr lang="en-US" dirty="0" err="1"/>
              <a:t>authRouter</a:t>
            </a:r>
            <a:endParaRPr lang="ru-RU" dirty="0"/>
          </a:p>
        </p:txBody>
      </p:sp>
      <p:sp>
        <p:nvSpPr>
          <p:cNvPr id="2" name="Номер слайда 9">
            <a:extLst>
              <a:ext uri="{FF2B5EF4-FFF2-40B4-BE49-F238E27FC236}">
                <a16:creationId xmlns:a16="http://schemas.microsoft.com/office/drawing/2014/main" id="{40CD1751-7AF5-259B-AABF-53E0CECFB9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27646" y="476688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674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СЕРВЕРНАЯ ЧАСТЬ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55FEFF0-72CE-48B0-1389-0F92C050D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45191"/>
              </p:ext>
            </p:extLst>
          </p:nvPr>
        </p:nvGraphicFramePr>
        <p:xfrm>
          <a:off x="1505733" y="1407568"/>
          <a:ext cx="6132533" cy="35894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8178">
                  <a:extLst>
                    <a:ext uri="{9D8B030D-6E8A-4147-A177-3AD203B41FA5}">
                      <a16:colId xmlns:a16="http://schemas.microsoft.com/office/drawing/2014/main" val="4135203874"/>
                    </a:ext>
                  </a:extLst>
                </a:gridCol>
                <a:gridCol w="1564394">
                  <a:extLst>
                    <a:ext uri="{9D8B030D-6E8A-4147-A177-3AD203B41FA5}">
                      <a16:colId xmlns:a16="http://schemas.microsoft.com/office/drawing/2014/main" val="2673831172"/>
                    </a:ext>
                  </a:extLst>
                </a:gridCol>
                <a:gridCol w="2130087">
                  <a:extLst>
                    <a:ext uri="{9D8B030D-6E8A-4147-A177-3AD203B41FA5}">
                      <a16:colId xmlns:a16="http://schemas.microsoft.com/office/drawing/2014/main" val="3368262030"/>
                    </a:ext>
                  </a:extLst>
                </a:gridCol>
                <a:gridCol w="1639874">
                  <a:extLst>
                    <a:ext uri="{9D8B030D-6E8A-4147-A177-3AD203B41FA5}">
                      <a16:colId xmlns:a16="http://schemas.microsoft.com/office/drawing/2014/main" val="1376870504"/>
                    </a:ext>
                  </a:extLst>
                </a:gridCol>
              </a:tblGrid>
              <a:tr h="9864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Путь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Принимает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Возвращает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Описание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2382586011"/>
                  </a:ext>
                </a:extLst>
              </a:tr>
              <a:tr h="33676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types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Запрос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и названия типов оповещений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получения типов оповещений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2649189801"/>
                  </a:ext>
                </a:extLst>
              </a:tr>
              <a:tr h="59448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recipients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Запрос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ФИО и </a:t>
                      </a:r>
                      <a:r>
                        <a:rPr lang="en-US" sz="900" dirty="0">
                          <a:effectLst/>
                        </a:rPr>
                        <a:t>id </a:t>
                      </a:r>
                      <a:r>
                        <a:rPr lang="ru-RU" sz="900" dirty="0">
                          <a:effectLst/>
                        </a:rPr>
                        <a:t>зарегистрированных пользователей.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получения данных пользователей системы для отображения их данных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2353237100"/>
                  </a:ext>
                </a:extLst>
              </a:tr>
              <a:tr h="33676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positions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Запрос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Id </a:t>
                      </a:r>
                      <a:r>
                        <a:rPr lang="ru-RU" sz="900" dirty="0">
                          <a:effectLst/>
                        </a:rPr>
                        <a:t>и названия должностей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получения данных о должностях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1891432839"/>
                  </a:ext>
                </a:extLst>
              </a:tr>
              <a:tr h="33676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departments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Запрос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и названия отделов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Используется для получения данных о должностях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3856398627"/>
                  </a:ext>
                </a:extLst>
              </a:tr>
              <a:tr h="42266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lastId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Запрос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последнего полученного пользователем уведомления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Используется для инициализации данных об уведомлениях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4030792028"/>
                  </a:ext>
                </a:extLst>
              </a:tr>
              <a:tr h="5085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get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последнего загруженного уведомления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Десять уведомлений, относящихся к пользователю и имеющих меньший </a:t>
                      </a:r>
                      <a:r>
                        <a:rPr lang="en-US" sz="900">
                          <a:effectLst/>
                        </a:rPr>
                        <a:t>id 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Используется для загрузки уведомлений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1102365422"/>
                  </a:ext>
                </a:extLst>
              </a:tr>
              <a:tr h="5085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getNew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последнего полученного пользователем уведомления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Уведомления, относящиеся к пользователю и </a:t>
                      </a:r>
                      <a:r>
                        <a:rPr lang="en-US" sz="900" dirty="0">
                          <a:effectLst/>
                        </a:rPr>
                        <a:t>id </a:t>
                      </a:r>
                      <a:r>
                        <a:rPr lang="ru-RU" sz="900" dirty="0">
                          <a:effectLst/>
                        </a:rPr>
                        <a:t>которых больше полученного в запросе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получения новых уведомлений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3678555568"/>
                  </a:ext>
                </a:extLst>
              </a:tr>
              <a:tr h="2508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send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Данные уведомления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Статус запроса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Используется для отправки уведомлений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011" marR="24011" marT="0" marB="0"/>
                </a:tc>
                <a:extLst>
                  <a:ext uri="{0D108BD9-81ED-4DB2-BD59-A6C34878D82A}">
                    <a16:rowId xmlns:a16="http://schemas.microsoft.com/office/drawing/2014/main" val="7447206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D9BA67-C937-C1A8-5F87-8A829A6A3337}"/>
              </a:ext>
            </a:extLst>
          </p:cNvPr>
          <p:cNvSpPr txBox="1"/>
          <p:nvPr/>
        </p:nvSpPr>
        <p:spPr>
          <a:xfrm>
            <a:off x="1505733" y="1099791"/>
            <a:ext cx="3036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Пути в роутере </a:t>
            </a:r>
            <a:r>
              <a:rPr lang="en-US" dirty="0" err="1"/>
              <a:t>notificationRouter</a:t>
            </a:r>
            <a:endParaRPr lang="ru-RU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38E9E66-E881-6BE5-9506-2ADF88B273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27646" y="476688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6537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СЕРВЕРНАЯ ЧАСТЬ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C49D822-94EE-73CA-4003-77BA46047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033986"/>
              </p:ext>
            </p:extLst>
          </p:nvPr>
        </p:nvGraphicFramePr>
        <p:xfrm>
          <a:off x="1317225" y="1314505"/>
          <a:ext cx="6771124" cy="349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2160">
                  <a:extLst>
                    <a:ext uri="{9D8B030D-6E8A-4147-A177-3AD203B41FA5}">
                      <a16:colId xmlns:a16="http://schemas.microsoft.com/office/drawing/2014/main" val="2452525237"/>
                    </a:ext>
                  </a:extLst>
                </a:gridCol>
                <a:gridCol w="1910575">
                  <a:extLst>
                    <a:ext uri="{9D8B030D-6E8A-4147-A177-3AD203B41FA5}">
                      <a16:colId xmlns:a16="http://schemas.microsoft.com/office/drawing/2014/main" val="2294872594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3358690112"/>
                    </a:ext>
                  </a:extLst>
                </a:gridCol>
                <a:gridCol w="2141033">
                  <a:extLst>
                    <a:ext uri="{9D8B030D-6E8A-4147-A177-3AD203B41FA5}">
                      <a16:colId xmlns:a16="http://schemas.microsoft.com/office/drawing/2014/main" val="3507037322"/>
                    </a:ext>
                  </a:extLst>
                </a:gridCol>
              </a:tblGrid>
              <a:tr h="51049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react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</a:rPr>
                        <a:t>Id </a:t>
                      </a:r>
                      <a:r>
                        <a:rPr lang="ru-RU" sz="900" b="0">
                          <a:solidFill>
                            <a:schemeClr val="tx1"/>
                          </a:solidFill>
                          <a:effectLst/>
                        </a:rPr>
                        <a:t>оповещения к которому привязана реакция, </a:t>
                      </a:r>
                      <a:r>
                        <a:rPr lang="en-US" sz="900" b="0">
                          <a:solidFill>
                            <a:schemeClr val="tx1"/>
                          </a:solidFill>
                          <a:effectLst/>
                        </a:rPr>
                        <a:t>id </a:t>
                      </a:r>
                      <a:r>
                        <a:rPr lang="ru-RU" sz="900" b="0">
                          <a:solidFill>
                            <a:schemeClr val="tx1"/>
                          </a:solidFill>
                          <a:effectLst/>
                        </a:rPr>
                        <a:t>оповещения которое будет отправлено</a:t>
                      </a:r>
                      <a:endParaRPr lang="ru-RU" sz="9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b="0" dirty="0">
                          <a:solidFill>
                            <a:schemeClr val="tx1"/>
                          </a:solidFill>
                          <a:effectLst/>
                        </a:rPr>
                        <a:t>Статус запроса</a:t>
                      </a:r>
                      <a:endParaRPr lang="ru-RU" sz="9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b="0" dirty="0">
                          <a:solidFill>
                            <a:schemeClr val="tx1"/>
                          </a:solidFill>
                          <a:effectLst/>
                        </a:rPr>
                        <a:t>Используется для отправки реакций на уведомления</a:t>
                      </a:r>
                      <a:endParaRPr lang="ru-RU" sz="9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50112"/>
                  </a:ext>
                </a:extLst>
              </a:tr>
              <a:tr h="51049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unreactedCount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Запрос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Количество оповещений, требующих реакции в том или ином типе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загрузки количества уведомлений, требующих реакции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extLst>
                  <a:ext uri="{0D108BD9-81ED-4DB2-BD59-A6C34878D82A}">
                    <a16:rowId xmlns:a16="http://schemas.microsoft.com/office/drawing/2014/main" val="1820560815"/>
                  </a:ext>
                </a:extLst>
              </a:tr>
              <a:tr h="42425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getSendedNotifications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Id </a:t>
                      </a:r>
                      <a:r>
                        <a:rPr lang="ru-RU" sz="900" dirty="0">
                          <a:effectLst/>
                        </a:rPr>
                        <a:t>последнего загруженного оповещения 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Двадцать оповещений, следующих после него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получения данных об отправленных уведомлениях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extLst>
                  <a:ext uri="{0D108BD9-81ED-4DB2-BD59-A6C34878D82A}">
                    <a16:rowId xmlns:a16="http://schemas.microsoft.com/office/drawing/2014/main" val="2888524850"/>
                  </a:ext>
                </a:extLst>
              </a:tr>
              <a:tr h="2517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 err="1">
                          <a:effectLst/>
                        </a:rPr>
                        <a:t>getComments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оповещения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Комментарии к оповещению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получения комментариев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extLst>
                  <a:ext uri="{0D108BD9-81ED-4DB2-BD59-A6C34878D82A}">
                    <a16:rowId xmlns:a16="http://schemas.microsoft.com/office/drawing/2014/main" val="996600655"/>
                  </a:ext>
                </a:extLst>
              </a:tr>
              <a:tr h="59672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getCommentsCount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Список из </a:t>
                      </a: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оповещений количество комментариев, к которым требуется загрузить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Количество комментариев для каждого из оповещений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получения информации о количества комментариев под оповещением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extLst>
                  <a:ext uri="{0D108BD9-81ED-4DB2-BD59-A6C34878D82A}">
                    <a16:rowId xmlns:a16="http://schemas.microsoft.com/office/drawing/2014/main" val="3775061689"/>
                  </a:ext>
                </a:extLst>
              </a:tr>
              <a:tr h="33802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getNewComments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Список из </a:t>
                      </a: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оповещений для обновления комментариев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Новые комментарии к оповещению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обновления комментариев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extLst>
                  <a:ext uri="{0D108BD9-81ED-4DB2-BD59-A6C34878D82A}">
                    <a16:rowId xmlns:a16="http://schemas.microsoft.com/office/drawing/2014/main" val="1475388446"/>
                  </a:ext>
                </a:extLst>
              </a:tr>
              <a:tr h="2517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newComment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Id </a:t>
                      </a:r>
                      <a:r>
                        <a:rPr lang="ru-RU" sz="900">
                          <a:effectLst/>
                        </a:rPr>
                        <a:t>оповещения и текст комментария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Статус запроса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Используется для отправки комментариев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extLst>
                  <a:ext uri="{0D108BD9-81ED-4DB2-BD59-A6C34878D82A}">
                    <a16:rowId xmlns:a16="http://schemas.microsoft.com/office/drawing/2014/main" val="3321292779"/>
                  </a:ext>
                </a:extLst>
              </a:tr>
              <a:tr h="51049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 err="1">
                          <a:effectLst/>
                        </a:rPr>
                        <a:t>updateSended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Список из </a:t>
                      </a:r>
                      <a:r>
                        <a:rPr lang="en-US" sz="900" dirty="0">
                          <a:effectLst/>
                        </a:rPr>
                        <a:t>id </a:t>
                      </a:r>
                      <a:r>
                        <a:rPr lang="ru-RU" sz="900" dirty="0">
                          <a:effectLst/>
                        </a:rPr>
                        <a:t>оповещений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>
                          <a:effectLst/>
                        </a:rPr>
                        <a:t>Данные оповещений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900" dirty="0">
                          <a:effectLst/>
                        </a:rPr>
                        <a:t>Используется для обновления данных об отправленных оповещениях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4102" marR="24102" marT="0" marB="0"/>
                </a:tc>
                <a:extLst>
                  <a:ext uri="{0D108BD9-81ED-4DB2-BD59-A6C34878D82A}">
                    <a16:rowId xmlns:a16="http://schemas.microsoft.com/office/drawing/2014/main" val="24495960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D9BA67-C937-C1A8-5F87-8A829A6A3337}"/>
              </a:ext>
            </a:extLst>
          </p:cNvPr>
          <p:cNvSpPr txBox="1"/>
          <p:nvPr/>
        </p:nvSpPr>
        <p:spPr>
          <a:xfrm>
            <a:off x="1317225" y="1068284"/>
            <a:ext cx="30360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Пути в роутере </a:t>
            </a:r>
            <a:r>
              <a:rPr lang="en-US" sz="1000" dirty="0" err="1"/>
              <a:t>notificationRouter</a:t>
            </a:r>
            <a:endParaRPr lang="ru-RU" sz="1000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38E9E66-E881-6BE5-9506-2ADF88B273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27646" y="476688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2867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КЛИЕНТСКАЯ ЧАСТЬ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FFE5826-B6E9-3B4E-CAE9-A0B70155FF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68096" y="481675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r>
              <a:rPr lang="en-US" dirty="0"/>
              <a:t>/21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915868C-747A-F6D7-3ECD-72C4A8A88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82" y="1687724"/>
            <a:ext cx="1257300" cy="242887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96A2150-3A02-1D3B-54F8-D11563159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646" y="1231541"/>
            <a:ext cx="6253630" cy="33412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EFBA53-9167-5154-770A-D6AE070E24ED}"/>
              </a:ext>
            </a:extLst>
          </p:cNvPr>
          <p:cNvSpPr txBox="1"/>
          <p:nvPr/>
        </p:nvSpPr>
        <p:spPr>
          <a:xfrm>
            <a:off x="495527" y="4116599"/>
            <a:ext cx="1687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Составляющие клиентской части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80599-7A0E-81F4-B3E2-4EF29E41E84F}"/>
              </a:ext>
            </a:extLst>
          </p:cNvPr>
          <p:cNvSpPr txBox="1"/>
          <p:nvPr/>
        </p:nvSpPr>
        <p:spPr>
          <a:xfrm>
            <a:off x="2625008" y="4567375"/>
            <a:ext cx="2614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 выделенной части</a:t>
            </a:r>
          </a:p>
        </p:txBody>
      </p:sp>
    </p:spTree>
    <p:extLst>
      <p:ext uri="{BB962C8B-B14F-4D97-AF65-F5344CB8AC3E}">
        <p14:creationId xmlns:p14="http://schemas.microsoft.com/office/powerpoint/2010/main" val="373685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КЛИЕНТСКАЯ ЧАСТЬ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FFE5826-B6E9-3B4E-CAE9-A0B70155FF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68096" y="481675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r>
              <a:rPr lang="en-US" dirty="0"/>
              <a:t>/21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70B242C-0850-1545-40A7-E53BB3294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549" y="1240227"/>
            <a:ext cx="3985336" cy="33238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7BB4AC-F843-FF19-18CB-3EFF27FB4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3" y="1760877"/>
            <a:ext cx="1257300" cy="24288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52C77F-F16E-A7C9-208C-B3397D7833C3}"/>
              </a:ext>
            </a:extLst>
          </p:cNvPr>
          <p:cNvSpPr txBox="1"/>
          <p:nvPr/>
        </p:nvSpPr>
        <p:spPr>
          <a:xfrm>
            <a:off x="610857" y="4189752"/>
            <a:ext cx="1687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Составляющие клиентской части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670D2-3DDF-7F58-1FF1-C071A3A45DD7}"/>
              </a:ext>
            </a:extLst>
          </p:cNvPr>
          <p:cNvSpPr txBox="1"/>
          <p:nvPr/>
        </p:nvSpPr>
        <p:spPr>
          <a:xfrm>
            <a:off x="4019549" y="4559083"/>
            <a:ext cx="2614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 выделенной части</a:t>
            </a:r>
          </a:p>
        </p:txBody>
      </p:sp>
    </p:spTree>
    <p:extLst>
      <p:ext uri="{BB962C8B-B14F-4D97-AF65-F5344CB8AC3E}">
        <p14:creationId xmlns:p14="http://schemas.microsoft.com/office/powerpoint/2010/main" val="3966061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КЛИЕНТСКАЯ ЧАСТЬ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FFE5826-B6E9-3B4E-CAE9-A0B70155FF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68096" y="481675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r>
              <a:rPr lang="en-US" dirty="0"/>
              <a:t>/21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86290B-5802-3FC2-D43E-31A59D43B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" y="1664550"/>
            <a:ext cx="1257300" cy="242887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C5D1FE-FC35-3430-937C-782FBD064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408" y="1445971"/>
            <a:ext cx="3371850" cy="2705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52C8A1-07B1-B8CE-1ABB-7DE21F33877C}"/>
              </a:ext>
            </a:extLst>
          </p:cNvPr>
          <p:cNvSpPr txBox="1"/>
          <p:nvPr/>
        </p:nvSpPr>
        <p:spPr>
          <a:xfrm>
            <a:off x="759137" y="4067931"/>
            <a:ext cx="1687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Составляющие клиентской части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A552F-D055-F861-4489-795081F12495}"/>
              </a:ext>
            </a:extLst>
          </p:cNvPr>
          <p:cNvSpPr txBox="1"/>
          <p:nvPr/>
        </p:nvSpPr>
        <p:spPr>
          <a:xfrm>
            <a:off x="4634408" y="4151071"/>
            <a:ext cx="2614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Состав выделенной части</a:t>
            </a:r>
          </a:p>
        </p:txBody>
      </p:sp>
    </p:spTree>
    <p:extLst>
      <p:ext uri="{BB962C8B-B14F-4D97-AF65-F5344CB8AC3E}">
        <p14:creationId xmlns:p14="http://schemas.microsoft.com/office/powerpoint/2010/main" val="4156602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ИНТЕРФЕЙС КЛИЕНТСКОЙ ЧАСТИ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6B6EED-1664-DB95-447B-1A533915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54" y="1148986"/>
            <a:ext cx="3999748" cy="201052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336522-443E-86AC-8105-DFEF14834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2424" y="1838588"/>
            <a:ext cx="5038392" cy="25375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789908-95BF-A1CF-E5BD-B75C37B1A09F}"/>
              </a:ext>
            </a:extLst>
          </p:cNvPr>
          <p:cNvSpPr txBox="1"/>
          <p:nvPr/>
        </p:nvSpPr>
        <p:spPr>
          <a:xfrm>
            <a:off x="476954" y="3159512"/>
            <a:ext cx="248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Страница аутентификации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60170-966C-4EE4-261F-3D8946BFA6F5}"/>
              </a:ext>
            </a:extLst>
          </p:cNvPr>
          <p:cNvSpPr txBox="1"/>
          <p:nvPr/>
        </p:nvSpPr>
        <p:spPr>
          <a:xfrm>
            <a:off x="3792424" y="4402790"/>
            <a:ext cx="248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Главная страница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1A958A-BDE4-502C-973D-B9779D10C3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91649" y="4785653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2655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7A0C8A-C22A-A65F-B5C0-A75A4DD22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95" y="1223010"/>
            <a:ext cx="3668530" cy="2922270"/>
          </a:xfrm>
          <a:prstGeom prst="rect">
            <a:avLst/>
          </a:prstGeom>
        </p:spPr>
      </p:pic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ИНТЕРФЕЙС КЛИЕНТСКОЙ ЧАСТИ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6E5CA6-36F0-9234-B6DC-9D817DA8F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551" y="1963420"/>
            <a:ext cx="5478145" cy="2751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7B8105-D01B-A31B-9D64-614D979D1CF4}"/>
              </a:ext>
            </a:extLst>
          </p:cNvPr>
          <p:cNvSpPr txBox="1"/>
          <p:nvPr/>
        </p:nvSpPr>
        <p:spPr>
          <a:xfrm>
            <a:off x="320837" y="4145280"/>
            <a:ext cx="2489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Создание уведомлений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C4631-F76D-7553-15CF-EDD356833F5A}"/>
              </a:ext>
            </a:extLst>
          </p:cNvPr>
          <p:cNvSpPr txBox="1"/>
          <p:nvPr/>
        </p:nvSpPr>
        <p:spPr>
          <a:xfrm>
            <a:off x="3523551" y="4715548"/>
            <a:ext cx="2639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Отправленные уведомления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541548F-C269-5782-BFFB-6641B2E118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68096" y="474948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18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3023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810107" y="483518"/>
            <a:ext cx="602070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ИНТЕРФЕЙС КЛИЕНТСКОЙ ЧАСТИ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49088C-F1E3-C6FD-C7E1-8DB4B70EB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470" y="1108592"/>
            <a:ext cx="6383059" cy="32000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14F44A-5F71-3240-DCDA-2B9725C78DA7}"/>
              </a:ext>
            </a:extLst>
          </p:cNvPr>
          <p:cNvSpPr txBox="1"/>
          <p:nvPr/>
        </p:nvSpPr>
        <p:spPr>
          <a:xfrm>
            <a:off x="3613783" y="4308635"/>
            <a:ext cx="3158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Регистрация новых сотрудников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9D82BA-F282-B413-EB39-85F3773C03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85265" y="4770340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19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6817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>
            <a:spLocks noGrp="1"/>
          </p:cNvSpPr>
          <p:nvPr>
            <p:ph type="body" idx="1"/>
          </p:nvPr>
        </p:nvSpPr>
        <p:spPr>
          <a:xfrm>
            <a:off x="337443" y="1203598"/>
            <a:ext cx="8429625" cy="3071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Bef>
                <a:spcPts val="0"/>
              </a:spcBef>
              <a:buSzPts val="2000"/>
            </a:pPr>
            <a:r>
              <a:rPr lang="ru-RU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Проанализирована и описана информационная система и её конкуренты.</a:t>
            </a:r>
          </a:p>
          <a:p>
            <a:pPr marL="285750" indent="-285750">
              <a:spcBef>
                <a:spcPts val="0"/>
              </a:spcBef>
              <a:buSzPts val="2000"/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</a:t>
            </a:r>
            <a:r>
              <a:rPr lang="ru-RU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писаны структура, функционал и процессы, происходящие как при взаимодействии между пользователем и системой, так и между элементами самой системы.</a:t>
            </a:r>
            <a:endParaRPr lang="ru-RU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spcBef>
                <a:spcPts val="0"/>
              </a:spcBef>
              <a:buSzPts val="2000"/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</a:t>
            </a:r>
            <a:r>
              <a:rPr lang="ru-RU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писан процесс разработки базы данных, серверной части и клиентской части приложения.</a:t>
            </a:r>
          </a:p>
          <a:p>
            <a:pPr marL="285750" indent="-285750">
              <a:spcBef>
                <a:spcPts val="0"/>
              </a:spcBef>
              <a:buSzPts val="2000"/>
            </a:pPr>
            <a:r>
              <a:rPr lang="ru-RU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</a:t>
            </a:r>
            <a:r>
              <a:rPr lang="ru-RU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риведено технико-экономическое обоснование проекта, определение класса защищенности системы, функциональное тестирование.</a:t>
            </a:r>
          </a:p>
          <a:p>
            <a:pPr marL="285750" indent="-285750">
              <a:spcBef>
                <a:spcPts val="0"/>
              </a:spcBef>
              <a:buSzPts val="2000"/>
            </a:pPr>
            <a:r>
              <a:rPr lang="ru-RU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дальнейшем планируется работа над интерфейсом веб приложения, расширением возможностей рассылки оповещений, проработка мер для обеспечения защиты информации.</a:t>
            </a:r>
            <a:endParaRPr sz="2000" dirty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4860032" y="483518"/>
            <a:ext cx="397078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2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EC553FC-6FF4-529E-00BB-2C8D22ADDB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45424" y="4757836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20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980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/>
        </p:nvSpPr>
        <p:spPr>
          <a:xfrm>
            <a:off x="12184" y="1851670"/>
            <a:ext cx="9144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ru-RU" sz="4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СПАСИБО ЗА ВНИМАНИЕ!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4913971" y="3715576"/>
            <a:ext cx="409347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Мехоношин Владислав Антонович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тел.: 8-952-318-65-68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18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e-mail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vladmexon@gmail.com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73438B-C828-66BE-428F-3384D885AB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73847" y="4729556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21/21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67544" y="1215405"/>
            <a:ext cx="8454783" cy="344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Доступ к системе имеют только аутентифицированные пользователи. Регистрация новых пользователей и управление их данными в системе доступно для работников отдела кадром имеющих, соответствующие права доступа.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Целостность информации обеспечивается валидацией вводимых пользователем данных как на стороне клиента, так и на стороне сервера. 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защиты от несанкционированного доступа к системе должен применяться перечень технических и организационных мер.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Также повышение уровня защитности может обеспечить возможность установки системы локально, без доступа к внешней сети.</a:t>
            </a:r>
          </a:p>
          <a:p>
            <a:pPr marL="0" indent="360000" algn="just">
              <a:buNone/>
            </a:pPr>
            <a:r>
              <a:rPr lang="ru-RU" sz="12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Тщательной проработки требуют части системы касающиеся:</a:t>
            </a: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хранения событий безопасности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обнаружения вторжений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ограничения неуспешных попыток аутентификации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20000" lvl="0" indent="-342900" algn="just">
              <a:buFont typeface="Symbol" panose="05050102010706020507" pitchFamily="18" charset="2"/>
              <a:buChar char=""/>
            </a:pPr>
            <a:r>
              <a:rPr lang="ru-RU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резервного копирования</a:t>
            </a:r>
            <a:r>
              <a:rPr lang="en-US" sz="12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ru-RU" sz="12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0">
              <a:lnSpc>
                <a:spcPct val="150000"/>
              </a:lnSpc>
              <a:spcAft>
                <a:spcPts val="100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074127" y="483518"/>
            <a:ext cx="6926372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ОБЕСПЕЧЕНИЕ ТРЕБОВАНИЙ О ЗАЩИТЕ ИНФОРМАЦИИ 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D5FDE3C-895A-F7AA-7B2B-C23D3E14CB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66899" y="475089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22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6207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67544" y="1215405"/>
            <a:ext cx="8454783" cy="344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360000">
              <a:spcAft>
                <a:spcPts val="1000"/>
              </a:spcAft>
              <a:buNone/>
            </a:pPr>
            <a:r>
              <a:rPr lang="ru-RU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Целью создаваемой системы является повышение эффективности сотрудников компании за счет использования «реакций» и возможности массовой рассылки оповещений. В конечном итоге ожидается снижение времени на взаимодействие между сотрудниками до 50%.</a:t>
            </a:r>
            <a:endParaRPr lang="ru-RU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360000">
              <a:spcAft>
                <a:spcPts val="1000"/>
              </a:spcAft>
              <a:buNone/>
            </a:pPr>
            <a:r>
              <a:rPr lang="ru-RU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Если допустить, что сотрудники в среднем тратят 1 час в день на взаимодействие между собой, а в году 200 рабочих дней, то при средней стоимости часа работы в 300р затраты на взаимодействие сотрудников составляют 60000р в год</a:t>
            </a:r>
            <a:r>
              <a:rPr lang="en-US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человека.</a:t>
            </a:r>
          </a:p>
          <a:p>
            <a:pPr marL="0" indent="360000">
              <a:spcAft>
                <a:spcPts val="1000"/>
              </a:spcAft>
              <a:buNone/>
            </a:pPr>
            <a:r>
              <a:rPr lang="ru-RU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 снижении времени взаимодействия на 50% получается экономия 30000р в год за каждого сотрудника.</a:t>
            </a:r>
          </a:p>
          <a:p>
            <a:pPr marL="0" indent="360000">
              <a:spcAft>
                <a:spcPts val="1000"/>
              </a:spcAft>
              <a:buNone/>
            </a:pPr>
            <a:r>
              <a:rPr lang="ru-RU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Предположим, что в компании работает 50 человек. Таким образом компания сможет экономить </a:t>
            </a:r>
            <a:r>
              <a:rPr lang="ru-RU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до </a:t>
            </a:r>
            <a:r>
              <a:rPr lang="ru-RU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1500000р в год.</a:t>
            </a:r>
          </a:p>
          <a:p>
            <a:pPr marL="0" indent="360000">
              <a:spcAft>
                <a:spcPts val="1000"/>
              </a:spcAft>
              <a:buNone/>
            </a:pPr>
            <a:r>
              <a:rPr lang="ru-RU" sz="14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 стоимости программы в 500000р и всей требуемой инфраструктуры в 1000000р. Срок окупаемости составит от 1,5 лет. </a:t>
            </a:r>
          </a:p>
          <a:p>
            <a:pPr indent="0">
              <a:lnSpc>
                <a:spcPct val="150000"/>
              </a:lnSpc>
              <a:spcAft>
                <a:spcPts val="100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2074127" y="483518"/>
            <a:ext cx="6756689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ТЕХНИКО-ЭКОНОМИЧЕСКОЕ ОБОСНАВАНИЕ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D5FDE3C-895A-F7AA-7B2B-C23D3E14CB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866899" y="4750891"/>
            <a:ext cx="21336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23</a:t>
            </a:fld>
            <a:r>
              <a:rPr lang="en-US" dirty="0"/>
              <a:t>/21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560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2551</Words>
  <Application>Microsoft Office PowerPoint</Application>
  <PresentationFormat>Экран (16:9)</PresentationFormat>
  <Paragraphs>310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Times New Roman</vt:lpstr>
      <vt:lpstr>Symbol</vt:lpstr>
      <vt:lpstr>Roboto</vt:lpstr>
      <vt:lpstr>Calibri</vt:lpstr>
      <vt:lpstr>Arial</vt:lpstr>
      <vt:lpstr>Тема Office</vt:lpstr>
      <vt:lpstr>ВЫПУСКНАЯ КВАЛИФИКАЦИОННАЯ РАБОТА на соискание академической степени бакалавра на тему</vt:lpstr>
      <vt:lpstr>АКУТУАЛЬНОСТЬ</vt:lpstr>
      <vt:lpstr>ЦЕЛЬ И ЗАДАЧИ</vt:lpstr>
      <vt:lpstr>КОНКУРЕНТОСПОСОБНОСТЬ</vt:lpstr>
      <vt:lpstr>КОНКУРЕНТОСПОСОБНОСТЬ</vt:lpstr>
      <vt:lpstr>ТРЕБОВАНИЯ К СИСТЕМЕ</vt:lpstr>
      <vt:lpstr>ФУНКЦИОНАЛЬНЫЕ ВОЗМОЖНОСТИ</vt:lpstr>
      <vt:lpstr>АРХИТЕКТУРА СИСТЕМЫ</vt:lpstr>
      <vt:lpstr>СТЭК ТЕХНОЛОГИЙ</vt:lpstr>
      <vt:lpstr>БАЗА ДАННЫХ</vt:lpstr>
      <vt:lpstr>СЕРВЕРНАЯ ЧАСТЬ</vt:lpstr>
      <vt:lpstr>СЕРВЕРНАЯ ЧАСТЬ</vt:lpstr>
      <vt:lpstr>СЕРВЕРНАЯ ЧАСТЬ</vt:lpstr>
      <vt:lpstr>КЛИЕНТСКАЯ ЧАСТЬ</vt:lpstr>
      <vt:lpstr>КЛИЕНТСКАЯ ЧАСТЬ</vt:lpstr>
      <vt:lpstr>КЛИЕНТСКАЯ ЧАСТЬ</vt:lpstr>
      <vt:lpstr>ИНТЕРФЕЙС КЛИЕНТСКОЙ ЧАСТИ</vt:lpstr>
      <vt:lpstr>ИНТЕРФЕЙС КЛИЕНТСКОЙ ЧАСТИ</vt:lpstr>
      <vt:lpstr>ИНТЕРФЕЙС КЛИЕНТСКОЙ ЧАСТИ</vt:lpstr>
      <vt:lpstr>ЗАКЛЮЧЕНИЕ</vt:lpstr>
      <vt:lpstr>Презентация PowerPoint</vt:lpstr>
      <vt:lpstr>ОБЕСПЕЧЕНИЕ ТРЕБОВАНИЙ О ЗАЩИТЕ ИНФОРМАЦИИ </vt:lpstr>
      <vt:lpstr>ТЕХНИКО-ЭКОНОМИЧЕСКОЕ ОБОСНАВАНИЕ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Владислав Мехоношин</dc:creator>
  <cp:lastModifiedBy>Владислав Мехоношин</cp:lastModifiedBy>
  <cp:revision>67</cp:revision>
  <dcterms:modified xsi:type="dcterms:W3CDTF">2024-06-24T16:58:51Z</dcterms:modified>
</cp:coreProperties>
</file>