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61" r:id="rId5"/>
    <p:sldId id="262" r:id="rId6"/>
    <p:sldId id="263" r:id="rId7"/>
    <p:sldId id="264" r:id="rId8"/>
    <p:sldId id="268" r:id="rId9"/>
    <p:sldId id="265" r:id="rId10"/>
    <p:sldId id="269" r:id="rId11"/>
    <p:sldId id="271" r:id="rId12"/>
    <p:sldId id="270" r:id="rId13"/>
    <p:sldId id="272" r:id="rId14"/>
    <p:sldId id="273" r:id="rId15"/>
    <p:sldId id="266" r:id="rId16"/>
    <p:sldId id="260" r:id="rId17"/>
  </p:sldIdLst>
  <p:sldSz cx="9144000" cy="5143500" type="screen16x9"/>
  <p:notesSz cx="6858000" cy="9144000"/>
  <p:embeddedFontLs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3" roundtripDataSignature="AMtx7mgdkSishXwXPOLq7/uFe+Y+f0xkD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257" autoAdjust="0"/>
  </p:normalViewPr>
  <p:slideViewPr>
    <p:cSldViewPr snapToGrid="0">
      <p:cViewPr varScale="1">
        <p:scale>
          <a:sx n="129" d="100"/>
          <a:sy n="129" d="100"/>
        </p:scale>
        <p:origin x="1104" y="13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customschemas.google.com/relationships/presentationmetadata" Target="meta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5" name="Google Shape;9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5741516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В итоге рассмотренные продукты не могут предоставить функционал для создания и массовой рассылки нестандартных уведомлений с возможностью встраивания в них реакций и контролем осведомленности сотрудников в условиях запрета на установку дополнительного ПО и доступа во внешние сети.</a:t>
            </a:r>
            <a:endParaRPr lang="en-US"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026109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5239526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В итоге рассмотренные продукты не могут предоставить функционал для создания и массовой рассылки нестандартных уведомлений с возможностью встраивания в них реакций и контролем осведомленности сотрудников в условиях запрета на установку дополнительного ПО и доступа во внешние сети.</a:t>
            </a:r>
            <a:endParaRPr lang="en-US"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825547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В итоге рассмотренные продукты не могут предоставить функционал для создания и массовой рассылки нестандартных уведомлений с возможностью встраивания в них реакций и контролем осведомленности сотрудников в условиях запрета на установку дополнительного ПО и доступа во внешние сети.</a:t>
            </a:r>
            <a:endParaRPr lang="en-US"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757242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В итоге рассмотренные продукты не могут предоставить функционал для создания и массовой рассылки нестандартных уведомлений с возможностью встраивания в них реакций и контролем осведомленности сотрудников в условиях запрета на установку дополнительного ПО и доступа во внешние сети.</a:t>
            </a:r>
            <a:endParaRPr lang="en-US"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953586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В итоге рассмотренные продукты не могут предоставить функционал для создания и массовой рассылки нестандартных уведомлений с возможностью встраивания в них реакций и контролем осведомленности сотрудников в условиях запрета на установку дополнительного ПО и доступа во внешние сети.</a:t>
            </a:r>
            <a:endParaRPr lang="en-US"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281835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В итоге рассмотренные продукты не могут предоставить функционал для создания и массовой рассылки нестандартных уведомлений с возможностью встраивания в них реакций и контролем осведомленности сотрудников в условиях запрета на установку дополнительного ПО и доступа во внешние сети.</a:t>
            </a:r>
            <a:endParaRPr lang="en-US"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690011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В итоге рассмотренные продукты не могут предоставить функционал для создания и массовой рассылки нестандартных уведомлений с возможностью встраивания в них реакций и контролем осведомленности сотрудников в условиях запрета на установку дополнительного ПО и доступа во внешние сети.</a:t>
            </a:r>
            <a:endParaRPr lang="en-US"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543806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В итоге рассмотренные продукты не могут предоставить функционал для создания и массовой рассылки нестандартных уведомлений с возможностью встраивания в них реакций и контролем осведомленности сотрудников в условиях запрета на установку дополнительного ПО и доступа во внешние сети.</a:t>
            </a:r>
            <a:endParaRPr lang="en-US"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417432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В итоге рассмотренные продукты не могут предоставить функционал для создания и массовой рассылки нестандартных уведомлений с возможностью встраивания в них реакций и контролем осведомленности сотрудников в условиях запрета на установку дополнительного ПО и доступа во внешние сети.</a:t>
            </a:r>
            <a:endParaRPr lang="en-US"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1870847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10" name="Google Shape;110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1" name="Google Shape;111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15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998053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9" name="Google Shape;11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8"/>
          <p:cNvSpPr txBox="1"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8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8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8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9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9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9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раздела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/>
          <p:cNvSpPr txBox="1"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0"/>
          <p:cNvSpPr txBox="1"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0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0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0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объекта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1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11"/>
          <p:cNvSpPr txBox="1">
            <a:spLocks noGrp="1"/>
          </p:cNvSpPr>
          <p:nvPr>
            <p:ph type="body" idx="2"/>
          </p:nvPr>
        </p:nvSpPr>
        <p:spPr>
          <a:xfrm>
            <a:off x="4648200" y="1200151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11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1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1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равнение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2"/>
          <p:cNvSpPr txBox="1"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2"/>
          <p:cNvSpPr txBox="1">
            <a:spLocks noGrp="1"/>
          </p:cNvSpPr>
          <p:nvPr>
            <p:ph type="body" idx="2"/>
          </p:nvPr>
        </p:nvSpPr>
        <p:spPr>
          <a:xfrm>
            <a:off x="457200" y="1631156"/>
            <a:ext cx="4040188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12"/>
          <p:cNvSpPr txBox="1">
            <a:spLocks noGrp="1"/>
          </p:cNvSpPr>
          <p:nvPr>
            <p:ph type="body" idx="3"/>
          </p:nvPr>
        </p:nvSpPr>
        <p:spPr>
          <a:xfrm>
            <a:off x="4645026" y="1151335"/>
            <a:ext cx="4041775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2"/>
          <p:cNvSpPr txBox="1">
            <a:spLocks noGrp="1"/>
          </p:cNvSpPr>
          <p:nvPr>
            <p:ph type="body" idx="4"/>
          </p:nvPr>
        </p:nvSpPr>
        <p:spPr>
          <a:xfrm>
            <a:off x="4645026" y="1631156"/>
            <a:ext cx="4041775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12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2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2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3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body" idx="1"/>
          </p:nvPr>
        </p:nvSpPr>
        <p:spPr>
          <a:xfrm>
            <a:off x="3575050" y="204788"/>
            <a:ext cx="5111750" cy="4389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body" idx="2"/>
          </p:nvPr>
        </p:nvSpPr>
        <p:spPr>
          <a:xfrm>
            <a:off x="457201" y="1076326"/>
            <a:ext cx="3008313" cy="3518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6"/>
          <p:cNvSpPr>
            <a:spLocks noGrp="1"/>
          </p:cNvSpPr>
          <p:nvPr>
            <p:ph type="pic" idx="2"/>
          </p:nvPr>
        </p:nvSpPr>
        <p:spPr>
          <a:xfrm>
            <a:off x="1792288" y="459581"/>
            <a:ext cx="54864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6"/>
          <p:cNvSpPr txBox="1">
            <a:spLocks noGrp="1"/>
          </p:cNvSpPr>
          <p:nvPr>
            <p:ph type="body" idx="1"/>
          </p:nvPr>
        </p:nvSpPr>
        <p:spPr>
          <a:xfrm>
            <a:off x="1792288" y="4025503"/>
            <a:ext cx="5486400" cy="603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вертикальный текст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body" idx="1"/>
          </p:nvPr>
        </p:nvSpPr>
        <p:spPr>
          <a:xfrm rot="5400000">
            <a:off x="2874764" y="-1217413"/>
            <a:ext cx="3394472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7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ый заголовок и текст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>
            <a:spLocks noGrp="1"/>
          </p:cNvSpPr>
          <p:nvPr>
            <p:ph type="title"/>
          </p:nvPr>
        </p:nvSpPr>
        <p:spPr>
          <a:xfrm rot="5400000">
            <a:off x="5463778" y="1371601"/>
            <a:ext cx="4388644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8"/>
          <p:cNvSpPr txBox="1">
            <a:spLocks noGrp="1"/>
          </p:cNvSpPr>
          <p:nvPr>
            <p:ph type="body" idx="1"/>
          </p:nvPr>
        </p:nvSpPr>
        <p:spPr>
          <a:xfrm rot="5400000">
            <a:off x="1272778" y="-609599"/>
            <a:ext cx="4388644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8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7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7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7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7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>
            <a:spLocks noGrp="1"/>
          </p:cNvSpPr>
          <p:nvPr>
            <p:ph type="ctrTitle"/>
          </p:nvPr>
        </p:nvSpPr>
        <p:spPr>
          <a:xfrm>
            <a:off x="0" y="2089500"/>
            <a:ext cx="9144000" cy="96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>
                <a:latin typeface="Roboto"/>
                <a:ea typeface="Roboto"/>
                <a:cs typeface="Roboto"/>
                <a:sym typeface="Roboto"/>
              </a:rPr>
              <a:t>ВЫПУСКНАЯ КВАЛИФИКАЦИОННАЯ РАБОТА</a:t>
            </a:r>
            <a:br>
              <a:rPr lang="ru-RU" sz="2400" b="1">
                <a:latin typeface="Roboto"/>
                <a:ea typeface="Roboto"/>
                <a:cs typeface="Roboto"/>
                <a:sym typeface="Roboto"/>
              </a:rPr>
            </a:br>
            <a:r>
              <a:rPr lang="ru-RU" sz="1600">
                <a:latin typeface="Roboto"/>
                <a:ea typeface="Roboto"/>
                <a:cs typeface="Roboto"/>
                <a:sym typeface="Roboto"/>
              </a:rPr>
              <a:t>на соискание академической степени бакалавра</a:t>
            </a:r>
            <a:br>
              <a:rPr lang="ru-RU" sz="1600">
                <a:latin typeface="Roboto"/>
                <a:ea typeface="Roboto"/>
                <a:cs typeface="Roboto"/>
                <a:sym typeface="Roboto"/>
              </a:rPr>
            </a:br>
            <a:r>
              <a:rPr lang="ru-RU" sz="1600">
                <a:latin typeface="Roboto"/>
                <a:ea typeface="Roboto"/>
                <a:cs typeface="Roboto"/>
                <a:sym typeface="Roboto"/>
              </a:rPr>
              <a:t>на тему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" name="Google Shape;89;p1"/>
          <p:cNvSpPr txBox="1">
            <a:spLocks noGrp="1"/>
          </p:cNvSpPr>
          <p:nvPr>
            <p:ph type="subTitle" idx="1"/>
          </p:nvPr>
        </p:nvSpPr>
        <p:spPr>
          <a:xfrm>
            <a:off x="5652120" y="3416920"/>
            <a:ext cx="34920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ru-RU" sz="1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Выполнил: студент группы РИС-20-2б</a:t>
            </a:r>
            <a:endParaRPr sz="14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ru-RU" sz="1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Мехоношин Владислав Антонович</a:t>
            </a:r>
            <a:endParaRPr sz="14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ru-RU" sz="1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Руководитель ВКР: </a:t>
            </a:r>
            <a:endParaRPr sz="1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ru-RU" sz="1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ст. преп., Кузнецов Денис Борисович</a:t>
            </a:r>
            <a:endParaRPr sz="14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ru-RU" sz="1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Консультант по предметной области: </a:t>
            </a:r>
            <a:endParaRPr sz="1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ru-RU" sz="1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ст. преп., Кузнецов Денис Борисович</a:t>
            </a:r>
            <a:endParaRPr lang="ru-RU" sz="1400" dirty="0"/>
          </a:p>
        </p:txBody>
      </p:sp>
      <p:sp>
        <p:nvSpPr>
          <p:cNvPr id="90" name="Google Shape;90;p1"/>
          <p:cNvSpPr/>
          <p:nvPr/>
        </p:nvSpPr>
        <p:spPr>
          <a:xfrm>
            <a:off x="890786" y="1059582"/>
            <a:ext cx="7215188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ru-RU" sz="1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Министерство науки и высшего образования Российской Федерации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ru-RU" sz="1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Федеральное государственное автономное образовательное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ru-RU" sz="1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учреждение высшего образования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ru-RU" sz="1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ПЕРМСКИЙ НАЦИОНАЛЬНЫЙ ИССЛЕДОВАТЕЛЬСКИЙ </a:t>
            </a:r>
            <a:endParaRPr sz="10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ru-RU" sz="1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ПОЛИТЕХНИЧЕСКИЙ УНИВЕРСИТЕТ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ru-RU" sz="1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Кафедра ИТАС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/>
          <p:nvPr/>
        </p:nvSpPr>
        <p:spPr>
          <a:xfrm>
            <a:off x="-3" y="3016823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ru-RU" sz="20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ru-RU" sz="2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«</a:t>
            </a:r>
            <a:r>
              <a:rPr lang="ru-RU" sz="2000" b="1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Разработка системы оповещения сотрудников компании»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/>
          <p:nvPr/>
        </p:nvSpPr>
        <p:spPr>
          <a:xfrm>
            <a:off x="3895726" y="4661297"/>
            <a:ext cx="1282723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ru-RU" sz="14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Пермь - 202</a:t>
            </a:r>
            <a:r>
              <a:rPr lang="en-US"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sz="14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"/>
          <p:cNvSpPr txBox="1">
            <a:spLocks noGrp="1"/>
          </p:cNvSpPr>
          <p:nvPr>
            <p:ph type="title"/>
          </p:nvPr>
        </p:nvSpPr>
        <p:spPr>
          <a:xfrm>
            <a:off x="5076056" y="483518"/>
            <a:ext cx="3754760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ЦЕЛЬ И ЗАДАЧИ</a:t>
            </a:r>
            <a:endParaRPr sz="2400" b="1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3"/>
          <p:cNvSpPr txBox="1">
            <a:spLocks noGrp="1"/>
          </p:cNvSpPr>
          <p:nvPr>
            <p:ph type="body" idx="1"/>
          </p:nvPr>
        </p:nvSpPr>
        <p:spPr>
          <a:xfrm>
            <a:off x="357189" y="1203598"/>
            <a:ext cx="8429700" cy="36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ru-RU" sz="1600" b="1" dirty="0">
                <a:latin typeface="Roboto"/>
                <a:ea typeface="Roboto"/>
                <a:cs typeface="Roboto"/>
                <a:sym typeface="Roboto"/>
              </a:rPr>
              <a:t>Цель работы:</a:t>
            </a:r>
            <a:r>
              <a:rPr lang="ru-RU" sz="1600" dirty="0">
                <a:latin typeface="Roboto"/>
                <a:ea typeface="Roboto"/>
                <a:cs typeface="Roboto"/>
                <a:sym typeface="Roboto"/>
              </a:rPr>
              <a:t> повышение эффективности внутрифирменной коммуникации и оперативного информирования персонала о важных событиях и изменениях.</a:t>
            </a:r>
            <a:endParaRPr lang="en-US" sz="1600" dirty="0">
              <a:latin typeface="Roboto"/>
              <a:ea typeface="Roboto"/>
              <a:cs typeface="Roboto"/>
              <a:sym typeface="Roboto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ru-RU" sz="1600" b="1" dirty="0">
                <a:latin typeface="Roboto"/>
                <a:ea typeface="Roboto"/>
                <a:cs typeface="Roboto"/>
                <a:sym typeface="Roboto"/>
              </a:rPr>
              <a:t>Задачи работы:</a:t>
            </a:r>
            <a:endParaRPr lang="en-US" sz="1600" b="1" dirty="0">
              <a:latin typeface="Roboto"/>
              <a:ea typeface="Roboto"/>
              <a:cs typeface="Roboto"/>
              <a:sym typeface="Roboto"/>
            </a:endParaRPr>
          </a:p>
          <a:p>
            <a:pPr>
              <a:spcAft>
                <a:spcPts val="1000"/>
              </a:spcAft>
            </a:pPr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обследовать существующие типовые процессы сотрудников компаний: об информировании о происшествиях, задачах и встречах, </a:t>
            </a:r>
          </a:p>
          <a:p>
            <a:pPr>
              <a:spcAft>
                <a:spcPts val="1000"/>
              </a:spcAft>
            </a:pPr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проанализировать существующие системы оповещения, </a:t>
            </a:r>
          </a:p>
          <a:p>
            <a:pPr>
              <a:spcAft>
                <a:spcPts val="1000"/>
              </a:spcAft>
            </a:pPr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сформулировать требования к системе оповещения сотрудников, </a:t>
            </a:r>
          </a:p>
          <a:p>
            <a:pPr>
              <a:spcAft>
                <a:spcPts val="1000"/>
              </a:spcAft>
            </a:pPr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разработать техническое задание на создание системы оповещения, разработать прототип системы, </a:t>
            </a:r>
          </a:p>
          <a:p>
            <a:pPr>
              <a:spcAft>
                <a:spcPts val="1000"/>
              </a:spcAft>
            </a:pPr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функциональное тестирование;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1600" dirty="0">
              <a:latin typeface="Roboto"/>
              <a:ea typeface="Roboto"/>
              <a:cs typeface="Roboto"/>
              <a:sym typeface="Roboto"/>
            </a:endParaRPr>
          </a:p>
          <a:p>
            <a:pPr marL="342900" lvl="0" indent="-234950" algn="l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endParaRPr sz="16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D2BF69BE-BBD0-F394-CB53-549E9B5214D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2</a:t>
            </a:fld>
            <a:endParaRPr lang="ru-RU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4"/>
          <p:cNvSpPr txBox="1">
            <a:spLocks noGrp="1"/>
          </p:cNvSpPr>
          <p:nvPr>
            <p:ph type="body" idx="1"/>
          </p:nvPr>
        </p:nvSpPr>
        <p:spPr>
          <a:xfrm>
            <a:off x="467544" y="1215405"/>
            <a:ext cx="8429625" cy="34445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3600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dirty="0">
                <a:latin typeface="Roboto"/>
                <a:ea typeface="Roboto"/>
                <a:cs typeface="Roboto"/>
                <a:sym typeface="Roboto"/>
              </a:rPr>
              <a:t>Система оповещения сотрудников компании — это инструмент, который используется для передачи сообщений сотрудникам компании о различных важных событиях, таких как: встречи, задачи, происшествия и т.д. </a:t>
            </a:r>
            <a:endParaRPr lang="en-US" sz="16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3600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dirty="0">
                <a:latin typeface="Roboto"/>
                <a:ea typeface="Roboto"/>
                <a:cs typeface="Roboto"/>
                <a:sym typeface="Roboto"/>
              </a:rPr>
              <a:t>Разрабатываемая система будет распространяться на платной основе и нацелена на предприятия гос. сектора для работы в условиях запрета на установку дополнительного ПО и доступа во внешние сети. </a:t>
            </a:r>
            <a:endParaRPr lang="ru-RU" sz="17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4860032" y="483518"/>
            <a:ext cx="397078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АКУТУАЛЬНОСТЬ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F5808347-F483-0BFA-4ADB-094314B196A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3</a:t>
            </a:fld>
            <a:endParaRPr lang="ru-RU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4"/>
          <p:cNvSpPr txBox="1">
            <a:spLocks noGrp="1"/>
          </p:cNvSpPr>
          <p:nvPr>
            <p:ph type="body" idx="1"/>
          </p:nvPr>
        </p:nvSpPr>
        <p:spPr>
          <a:xfrm>
            <a:off x="467545" y="1215405"/>
            <a:ext cx="4520092" cy="34445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360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ru-RU" sz="1800" dirty="0">
                <a:latin typeface="Roboto"/>
                <a:ea typeface="Roboto"/>
                <a:cs typeface="Roboto"/>
                <a:sym typeface="Roboto"/>
              </a:rPr>
              <a:t>Для оценки конкурентоспособности и возможной корректировки требований, выдвигаемых к системе, были проанализированы популярные решения предоставляющие возможности для оповещения пользователей в корпоративной среде. </a:t>
            </a:r>
          </a:p>
          <a:p>
            <a:pPr marL="0" lvl="0" indent="360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ru-RU" sz="1800" dirty="0">
                <a:latin typeface="Roboto"/>
                <a:ea typeface="Roboto"/>
                <a:cs typeface="Roboto"/>
                <a:sym typeface="Roboto"/>
              </a:rPr>
              <a:t>Были рассмотрены следующие продукты: </a:t>
            </a:r>
            <a:r>
              <a:rPr lang="ru-RU" sz="1800" dirty="0" err="1">
                <a:latin typeface="Roboto"/>
                <a:ea typeface="Roboto"/>
                <a:cs typeface="Roboto"/>
                <a:sym typeface="Roboto"/>
              </a:rPr>
              <a:t>Projecto</a:t>
            </a:r>
            <a:r>
              <a:rPr lang="ru-RU" sz="1800" dirty="0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ru-RU" sz="1800" dirty="0" err="1">
                <a:latin typeface="Roboto"/>
                <a:ea typeface="Roboto"/>
                <a:cs typeface="Roboto"/>
                <a:sym typeface="Roboto"/>
              </a:rPr>
              <a:t>MyChat</a:t>
            </a:r>
            <a:r>
              <a:rPr lang="ru-RU" sz="1800" dirty="0">
                <a:latin typeface="Roboto"/>
                <a:ea typeface="Roboto"/>
                <a:cs typeface="Roboto"/>
                <a:sym typeface="Roboto"/>
              </a:rPr>
              <a:t> и Microsoft </a:t>
            </a:r>
            <a:r>
              <a:rPr lang="en-US" sz="1800" dirty="0">
                <a:latin typeface="Roboto"/>
                <a:ea typeface="Roboto"/>
                <a:cs typeface="Roboto"/>
                <a:sym typeface="Roboto"/>
              </a:rPr>
              <a:t>Teams</a:t>
            </a:r>
            <a:r>
              <a:rPr lang="ru-RU" sz="1800" dirty="0"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0" lvl="0" indent="3600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17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3427141" y="483518"/>
            <a:ext cx="5403675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КОНКУРЕНТОСПОСОБНОСТЬ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DE965D7-A9FD-9FC8-8C15-3FDE19A22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7637" y="1362936"/>
            <a:ext cx="3138055" cy="1574757"/>
          </a:xfrm>
          <a:prstGeom prst="rect">
            <a:avLst/>
          </a:prstGeom>
        </p:spPr>
      </p:pic>
      <p:pic>
        <p:nvPicPr>
          <p:cNvPr id="1026" name="Picture 2" descr="MyChat 8.0">
            <a:extLst>
              <a:ext uri="{FF2B5EF4-FFF2-40B4-BE49-F238E27FC236}">
                <a16:creationId xmlns:a16="http://schemas.microsoft.com/office/drawing/2014/main" id="{217DB8B7-637B-2649-659D-7BE0AAE6F8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9302" y="1890119"/>
            <a:ext cx="2681514" cy="1574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Announcing the Microsoft Teams Developer Preview - Microsoft 365 Developer  Blog">
            <a:extLst>
              <a:ext uri="{FF2B5EF4-FFF2-40B4-BE49-F238E27FC236}">
                <a16:creationId xmlns:a16="http://schemas.microsoft.com/office/drawing/2014/main" id="{788CF55B-603C-4A0D-7715-0C5EAC5292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9917" y="2953819"/>
            <a:ext cx="2610642" cy="1468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6D1BC6-D355-0182-1E18-B9C192FF87DD}"/>
              </a:ext>
            </a:extLst>
          </p:cNvPr>
          <p:cNvSpPr txBox="1"/>
          <p:nvPr/>
        </p:nvSpPr>
        <p:spPr>
          <a:xfrm>
            <a:off x="5337717" y="4445621"/>
            <a:ext cx="31947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Рассматриваемые системы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75E275-A2CC-3555-3802-020A478C58C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78228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4"/>
          <p:cNvSpPr txBox="1">
            <a:spLocks noGrp="1"/>
          </p:cNvSpPr>
          <p:nvPr>
            <p:ph type="body" idx="1"/>
          </p:nvPr>
        </p:nvSpPr>
        <p:spPr>
          <a:xfrm>
            <a:off x="467544" y="1215405"/>
            <a:ext cx="8454783" cy="34445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3600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dirty="0">
                <a:latin typeface="Roboto"/>
                <a:ea typeface="Roboto"/>
                <a:cs typeface="Roboto"/>
                <a:sym typeface="Roboto"/>
              </a:rPr>
              <a:t>В конечном итоге были выдвинуты следующие требования</a:t>
            </a:r>
            <a:r>
              <a:rPr lang="en-US" sz="1600" dirty="0">
                <a:latin typeface="Roboto"/>
                <a:ea typeface="Roboto"/>
                <a:cs typeface="Roboto"/>
                <a:sym typeface="Roboto"/>
              </a:rPr>
              <a:t>:</a:t>
            </a:r>
          </a:p>
          <a:p>
            <a:pPr marL="285750" indent="-285750" algn="just">
              <a:spcBef>
                <a:spcPts val="0"/>
              </a:spcBef>
              <a:buSzPts val="1600"/>
            </a:pPr>
            <a:r>
              <a:rPr lang="ru-RU" sz="1700" dirty="0">
                <a:latin typeface="Arial"/>
                <a:ea typeface="Arial"/>
                <a:cs typeface="Arial"/>
                <a:sym typeface="Arial"/>
              </a:rPr>
              <a:t>Массовая рассылка оповещений</a:t>
            </a:r>
          </a:p>
          <a:p>
            <a:pPr marL="285750" indent="-285750" algn="just">
              <a:spcBef>
                <a:spcPts val="0"/>
              </a:spcBef>
              <a:buSzPts val="1600"/>
            </a:pPr>
            <a:r>
              <a:rPr lang="ru-RU" sz="1700" dirty="0">
                <a:latin typeface="Arial"/>
                <a:ea typeface="Arial"/>
                <a:cs typeface="Arial"/>
                <a:sym typeface="Arial"/>
              </a:rPr>
              <a:t>Возможность привязки реакций к уведомлениям</a:t>
            </a:r>
          </a:p>
          <a:p>
            <a:pPr marL="285750" indent="-285750" algn="just">
              <a:spcBef>
                <a:spcPts val="0"/>
              </a:spcBef>
              <a:buSzPts val="1600"/>
            </a:pPr>
            <a:r>
              <a:rPr lang="ru-RU" sz="1700" dirty="0">
                <a:latin typeface="Arial"/>
                <a:ea typeface="Arial"/>
                <a:cs typeface="Arial"/>
                <a:sym typeface="Arial"/>
              </a:rPr>
              <a:t>Возможность интеграции с уже имеющимися системами</a:t>
            </a:r>
          </a:p>
          <a:p>
            <a:pPr marL="285750" indent="-285750" algn="just">
              <a:spcBef>
                <a:spcPts val="0"/>
              </a:spcBef>
              <a:buSzPts val="1600"/>
            </a:pPr>
            <a:r>
              <a:rPr lang="ru-RU" sz="1700" dirty="0">
                <a:latin typeface="Arial"/>
                <a:ea typeface="Arial"/>
                <a:cs typeface="Arial"/>
                <a:sym typeface="Arial"/>
              </a:rPr>
              <a:t>Гибкость благодаря настройкам</a:t>
            </a:r>
          </a:p>
          <a:p>
            <a:pPr marL="285750" indent="-285750" algn="just">
              <a:spcBef>
                <a:spcPts val="0"/>
              </a:spcBef>
              <a:buSzPts val="1600"/>
            </a:pPr>
            <a:r>
              <a:rPr lang="ru-RU" sz="1700" dirty="0">
                <a:latin typeface="Arial"/>
                <a:ea typeface="Arial"/>
                <a:cs typeface="Arial"/>
                <a:sym typeface="Arial"/>
              </a:rPr>
              <a:t>Взаимодействие сотрудников по средствам сообщений</a:t>
            </a:r>
          </a:p>
          <a:p>
            <a:pPr marL="285750" indent="-285750" algn="just">
              <a:spcBef>
                <a:spcPts val="0"/>
              </a:spcBef>
              <a:buSzPts val="1600"/>
            </a:pPr>
            <a:r>
              <a:rPr lang="ru-RU" sz="1700" dirty="0">
                <a:latin typeface="Arial"/>
                <a:ea typeface="Arial"/>
                <a:cs typeface="Arial"/>
                <a:sym typeface="Arial"/>
              </a:rPr>
              <a:t>Возможность использования в условиях запрета на установку дополнительного ПО и доступа во внешние сети</a:t>
            </a: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4497659" y="483518"/>
            <a:ext cx="4333157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ТРЕБОВАНИЯ К СИСТЕМЕ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7D5FDE3C-895A-F7AA-7B2B-C23D3E14CBA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8564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4"/>
          <p:cNvSpPr txBox="1">
            <a:spLocks noGrp="1"/>
          </p:cNvSpPr>
          <p:nvPr>
            <p:ph type="body" idx="1"/>
          </p:nvPr>
        </p:nvSpPr>
        <p:spPr>
          <a:xfrm>
            <a:off x="467545" y="1215405"/>
            <a:ext cx="4104456" cy="34445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3600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700">
                <a:latin typeface="Arial"/>
                <a:ea typeface="Arial"/>
                <a:cs typeface="Arial"/>
                <a:sym typeface="Arial"/>
              </a:rPr>
              <a:t>На основе требований о работе приложения в условиях запрета на установку дополнительного ПО и доступа во внешние сети, было принято решение о создании клиент серверного веб приложения.</a:t>
            </a:r>
            <a:endParaRPr lang="ru-RU" sz="17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4598039" y="483518"/>
            <a:ext cx="4232777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АРХИТЕКТУРА СИСТЕМЫ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22AF84F-38F2-1DA0-8BFB-5086BAF098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0271" y="1378529"/>
            <a:ext cx="4291425" cy="307452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2E2F14-8FA2-FA8E-4A83-4B90445BF8CA}"/>
              </a:ext>
            </a:extLst>
          </p:cNvPr>
          <p:cNvSpPr txBox="1"/>
          <p:nvPr/>
        </p:nvSpPr>
        <p:spPr>
          <a:xfrm>
            <a:off x="4710271" y="4453055"/>
            <a:ext cx="30405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С4 диаграмма системы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5B1D4F5-984E-658C-E199-B5F1790921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50107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2810107" y="483518"/>
            <a:ext cx="6020709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ФУНКЦИОНАЛЬНЫЕ ВОЗМОЖНОСТИ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A820933-AF19-A552-2495-B99216A4A60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810" y="1295908"/>
            <a:ext cx="7878928" cy="3110633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F0CCACD-FCFC-9E3D-EF5F-2F27237B55B6}"/>
              </a:ext>
            </a:extLst>
          </p:cNvPr>
          <p:cNvSpPr txBox="1"/>
          <p:nvPr/>
        </p:nvSpPr>
        <p:spPr>
          <a:xfrm>
            <a:off x="3345366" y="4506093"/>
            <a:ext cx="30628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USE-CASE </a:t>
            </a:r>
            <a:r>
              <a:rPr lang="ru-RU" dirty="0"/>
              <a:t>диаграмма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C3B6BD2-1557-CC12-3685-62E031EAE5E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76437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2810107" y="483518"/>
            <a:ext cx="6020709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БАЗА ДАННЫХ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26255B5-E0F7-1271-A401-5FB7E010B1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0716" y="1154013"/>
            <a:ext cx="4457907" cy="3284173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A05D210-AD23-F68A-BBDA-6D7015A46550}"/>
              </a:ext>
            </a:extLst>
          </p:cNvPr>
          <p:cNvSpPr txBox="1"/>
          <p:nvPr/>
        </p:nvSpPr>
        <p:spPr>
          <a:xfrm>
            <a:off x="3357805" y="4467923"/>
            <a:ext cx="2683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ER </a:t>
            </a:r>
            <a:r>
              <a:rPr lang="ru-RU" dirty="0"/>
              <a:t>диаграмма базы данных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D11364D-984D-FE9E-F35B-628D0A4A9C0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64086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4860032" y="483518"/>
            <a:ext cx="397078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СЕРВЕРНАЯ ЧАСТЬ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F1029E6C-F1FA-E403-2510-383EA29D8B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2928566"/>
              </p:ext>
            </p:extLst>
          </p:nvPr>
        </p:nvGraphicFramePr>
        <p:xfrm>
          <a:off x="376213" y="1412081"/>
          <a:ext cx="3516349" cy="329100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19872">
                  <a:extLst>
                    <a:ext uri="{9D8B030D-6E8A-4147-A177-3AD203B41FA5}">
                      <a16:colId xmlns:a16="http://schemas.microsoft.com/office/drawing/2014/main" val="1228508444"/>
                    </a:ext>
                  </a:extLst>
                </a:gridCol>
                <a:gridCol w="845629">
                  <a:extLst>
                    <a:ext uri="{9D8B030D-6E8A-4147-A177-3AD203B41FA5}">
                      <a16:colId xmlns:a16="http://schemas.microsoft.com/office/drawing/2014/main" val="3188227940"/>
                    </a:ext>
                  </a:extLst>
                </a:gridCol>
                <a:gridCol w="838585">
                  <a:extLst>
                    <a:ext uri="{9D8B030D-6E8A-4147-A177-3AD203B41FA5}">
                      <a16:colId xmlns:a16="http://schemas.microsoft.com/office/drawing/2014/main" val="686120645"/>
                    </a:ext>
                  </a:extLst>
                </a:gridCol>
                <a:gridCol w="812263">
                  <a:extLst>
                    <a:ext uri="{9D8B030D-6E8A-4147-A177-3AD203B41FA5}">
                      <a16:colId xmlns:a16="http://schemas.microsoft.com/office/drawing/2014/main" val="2361384605"/>
                    </a:ext>
                  </a:extLst>
                </a:gridCol>
              </a:tblGrid>
              <a:tr h="129304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Путь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700" dirty="0">
                          <a:effectLst/>
                        </a:rPr>
                        <a:t>Принимает</a:t>
                      </a:r>
                      <a:endParaRPr lang="ru-RU" sz="7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Возвращает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Описание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extLst>
                  <a:ext uri="{0D108BD9-81ED-4DB2-BD59-A6C34878D82A}">
                    <a16:rowId xmlns:a16="http://schemas.microsoft.com/office/drawing/2014/main" val="3497690097"/>
                  </a:ext>
                </a:extLst>
              </a:tr>
              <a:tr h="623811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login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Json </a:t>
                      </a:r>
                      <a:r>
                        <a:rPr lang="ru-RU" sz="700">
                          <a:effectLst/>
                        </a:rPr>
                        <a:t>содержащий логи и пароль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Cookie </a:t>
                      </a:r>
                      <a:r>
                        <a:rPr lang="ru-RU" sz="700">
                          <a:effectLst/>
                        </a:rPr>
                        <a:t>с </a:t>
                      </a:r>
                      <a:r>
                        <a:rPr lang="en-US" sz="700">
                          <a:effectLst/>
                        </a:rPr>
                        <a:t>refresh </a:t>
                      </a:r>
                      <a:r>
                        <a:rPr lang="ru-RU" sz="700">
                          <a:effectLst/>
                        </a:rPr>
                        <a:t>токеном и </a:t>
                      </a:r>
                      <a:r>
                        <a:rPr lang="en-US" sz="700">
                          <a:effectLst/>
                        </a:rPr>
                        <a:t>Json </a:t>
                      </a:r>
                      <a:r>
                        <a:rPr lang="ru-RU" sz="700">
                          <a:effectLst/>
                        </a:rPr>
                        <a:t>объект с </a:t>
                      </a:r>
                      <a:r>
                        <a:rPr lang="en-US" sz="700">
                          <a:effectLst/>
                        </a:rPr>
                        <a:t>access </a:t>
                      </a:r>
                      <a:r>
                        <a:rPr lang="ru-RU" sz="700">
                          <a:effectLst/>
                        </a:rPr>
                        <a:t>токеном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Используется для аутентификации</a:t>
                      </a:r>
                    </a:p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пользователей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extLst>
                  <a:ext uri="{0D108BD9-81ED-4DB2-BD59-A6C34878D82A}">
                    <a16:rowId xmlns:a16="http://schemas.microsoft.com/office/drawing/2014/main" val="331493372"/>
                  </a:ext>
                </a:extLst>
              </a:tr>
              <a:tr h="334989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register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Json </a:t>
                      </a:r>
                      <a:r>
                        <a:rPr lang="ru-RU" sz="700">
                          <a:effectLst/>
                        </a:rPr>
                        <a:t>с данными сотрудника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Статус запроса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Используется для регистрации пользователей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extLst>
                  <a:ext uri="{0D108BD9-81ED-4DB2-BD59-A6C34878D82A}">
                    <a16:rowId xmlns:a16="http://schemas.microsoft.com/office/drawing/2014/main" val="176114337"/>
                  </a:ext>
                </a:extLst>
              </a:tr>
              <a:tr h="564431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 dirty="0">
                          <a:effectLst/>
                        </a:rPr>
                        <a:t>logout</a:t>
                      </a:r>
                      <a:endParaRPr lang="ru-RU" sz="7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Refresh </a:t>
                      </a:r>
                      <a:r>
                        <a:rPr lang="ru-RU" sz="700">
                          <a:effectLst/>
                        </a:rPr>
                        <a:t>токен из с</a:t>
                      </a:r>
                      <a:r>
                        <a:rPr lang="en-US" sz="700">
                          <a:effectLst/>
                        </a:rPr>
                        <a:t>ookie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Статус запроса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Используется для удаления </a:t>
                      </a:r>
                      <a:r>
                        <a:rPr lang="en-US" sz="700">
                          <a:effectLst/>
                        </a:rPr>
                        <a:t>refresh </a:t>
                      </a:r>
                      <a:r>
                        <a:rPr lang="ru-RU" sz="700">
                          <a:effectLst/>
                        </a:rPr>
                        <a:t>токена при выходе из приложения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extLst>
                  <a:ext uri="{0D108BD9-81ED-4DB2-BD59-A6C34878D82A}">
                    <a16:rowId xmlns:a16="http://schemas.microsoft.com/office/drawing/2014/main" val="3658884014"/>
                  </a:ext>
                </a:extLst>
              </a:tr>
              <a:tr h="334989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refresh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Refresh </a:t>
                      </a:r>
                      <a:r>
                        <a:rPr lang="ru-RU" sz="700">
                          <a:effectLst/>
                        </a:rPr>
                        <a:t>токен из с</a:t>
                      </a:r>
                      <a:r>
                        <a:rPr lang="en-US" sz="700">
                          <a:effectLst/>
                        </a:rPr>
                        <a:t>ookie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Refresh </a:t>
                      </a:r>
                      <a:r>
                        <a:rPr lang="ru-RU" sz="700">
                          <a:effectLst/>
                        </a:rPr>
                        <a:t>и </a:t>
                      </a:r>
                      <a:r>
                        <a:rPr lang="en-US" sz="700">
                          <a:effectLst/>
                        </a:rPr>
                        <a:t>access </a:t>
                      </a:r>
                      <a:r>
                        <a:rPr lang="ru-RU" sz="700">
                          <a:effectLst/>
                        </a:rPr>
                        <a:t>токены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Используется для обновления пары токенов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extLst>
                  <a:ext uri="{0D108BD9-81ED-4DB2-BD59-A6C34878D82A}">
                    <a16:rowId xmlns:a16="http://schemas.microsoft.com/office/drawing/2014/main" val="3852905931"/>
                  </a:ext>
                </a:extLst>
              </a:tr>
              <a:tr h="564431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getUsersData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Id </a:t>
                      </a:r>
                      <a:r>
                        <a:rPr lang="ru-RU" sz="700">
                          <a:effectLst/>
                        </a:rPr>
                        <a:t>последнего полученного пользователя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Данные пользователей </a:t>
                      </a:r>
                      <a:r>
                        <a:rPr lang="en-US" sz="700">
                          <a:effectLst/>
                        </a:rPr>
                        <a:t>id </a:t>
                      </a:r>
                      <a:r>
                        <a:rPr lang="ru-RU" sz="700">
                          <a:effectLst/>
                        </a:rPr>
                        <a:t>которых меньше полученного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Для получения данных пользователей на странице регистрации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extLst>
                  <a:ext uri="{0D108BD9-81ED-4DB2-BD59-A6C34878D82A}">
                    <a16:rowId xmlns:a16="http://schemas.microsoft.com/office/drawing/2014/main" val="750037685"/>
                  </a:ext>
                </a:extLst>
              </a:tr>
              <a:tr h="564431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updateRecipientsInfo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Данные пользователей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Статус запроса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 dirty="0">
                          <a:effectLst/>
                        </a:rPr>
                        <a:t>Обновление данных пользователей на странице регистрации</a:t>
                      </a:r>
                      <a:endParaRPr lang="ru-RU" sz="7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extLst>
                  <a:ext uri="{0D108BD9-81ED-4DB2-BD59-A6C34878D82A}">
                    <a16:rowId xmlns:a16="http://schemas.microsoft.com/office/drawing/2014/main" val="2971664344"/>
                  </a:ext>
                </a:extLst>
              </a:tr>
            </a:tbl>
          </a:graphicData>
        </a:graphic>
      </p:graphicFrame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D55FEFF0-72CE-48B0-1389-0F92C050DB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0946325"/>
              </p:ext>
            </p:extLst>
          </p:nvPr>
        </p:nvGraphicFramePr>
        <p:xfrm>
          <a:off x="3969131" y="1407568"/>
          <a:ext cx="2401867" cy="346119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701694">
                  <a:extLst>
                    <a:ext uri="{9D8B030D-6E8A-4147-A177-3AD203B41FA5}">
                      <a16:colId xmlns:a16="http://schemas.microsoft.com/office/drawing/2014/main" val="4135203874"/>
                    </a:ext>
                  </a:extLst>
                </a:gridCol>
                <a:gridCol w="498606">
                  <a:extLst>
                    <a:ext uri="{9D8B030D-6E8A-4147-A177-3AD203B41FA5}">
                      <a16:colId xmlns:a16="http://schemas.microsoft.com/office/drawing/2014/main" val="2673831172"/>
                    </a:ext>
                  </a:extLst>
                </a:gridCol>
                <a:gridCol w="678904">
                  <a:extLst>
                    <a:ext uri="{9D8B030D-6E8A-4147-A177-3AD203B41FA5}">
                      <a16:colId xmlns:a16="http://schemas.microsoft.com/office/drawing/2014/main" val="3368262030"/>
                    </a:ext>
                  </a:extLst>
                </a:gridCol>
                <a:gridCol w="522663">
                  <a:extLst>
                    <a:ext uri="{9D8B030D-6E8A-4147-A177-3AD203B41FA5}">
                      <a16:colId xmlns:a16="http://schemas.microsoft.com/office/drawing/2014/main" val="1376870504"/>
                    </a:ext>
                  </a:extLst>
                </a:gridCol>
              </a:tblGrid>
              <a:tr h="986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Путь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500" dirty="0">
                          <a:effectLst/>
                        </a:rPr>
                        <a:t>Принимает</a:t>
                      </a:r>
                      <a:endParaRPr lang="ru-RU" sz="5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Возвращает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Описание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extLst>
                  <a:ext uri="{0D108BD9-81ED-4DB2-BD59-A6C34878D82A}">
                    <a16:rowId xmlns:a16="http://schemas.microsoft.com/office/drawing/2014/main" val="2382586011"/>
                  </a:ext>
                </a:extLst>
              </a:tr>
              <a:tr h="33676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types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Запрос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и названия типов оповещений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получения типов оповещений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extLst>
                  <a:ext uri="{0D108BD9-81ED-4DB2-BD59-A6C34878D82A}">
                    <a16:rowId xmlns:a16="http://schemas.microsoft.com/office/drawing/2014/main" val="2649189801"/>
                  </a:ext>
                </a:extLst>
              </a:tr>
              <a:tr h="594482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recipients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Запрос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ФИО и </a:t>
                      </a: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зарегистрированных пользователей.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получения данных пользователей системы для отображения их данных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extLst>
                  <a:ext uri="{0D108BD9-81ED-4DB2-BD59-A6C34878D82A}">
                    <a16:rowId xmlns:a16="http://schemas.microsoft.com/office/drawing/2014/main" val="2353237100"/>
                  </a:ext>
                </a:extLst>
              </a:tr>
              <a:tr h="33676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positions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Запрос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и названия должностей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получения данных о должностях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extLst>
                  <a:ext uri="{0D108BD9-81ED-4DB2-BD59-A6C34878D82A}">
                    <a16:rowId xmlns:a16="http://schemas.microsoft.com/office/drawing/2014/main" val="1891432839"/>
                  </a:ext>
                </a:extLst>
              </a:tr>
              <a:tr h="33676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departments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Запрос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и названия отделов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получения данных о должностях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extLst>
                  <a:ext uri="{0D108BD9-81ED-4DB2-BD59-A6C34878D82A}">
                    <a16:rowId xmlns:a16="http://schemas.microsoft.com/office/drawing/2014/main" val="3856398627"/>
                  </a:ext>
                </a:extLst>
              </a:tr>
              <a:tr h="422667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lastId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Запрос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последнего полученного пользователем уведомления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инициализации данных об уведомлениях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extLst>
                  <a:ext uri="{0D108BD9-81ED-4DB2-BD59-A6C34878D82A}">
                    <a16:rowId xmlns:a16="http://schemas.microsoft.com/office/drawing/2014/main" val="4030792028"/>
                  </a:ext>
                </a:extLst>
              </a:tr>
              <a:tr h="508574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get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последнего загруженного уведомления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Десять уведомлений, относящихся к пользователю и имеющих меньший </a:t>
                      </a:r>
                      <a:r>
                        <a:rPr lang="en-US" sz="500">
                          <a:effectLst/>
                        </a:rPr>
                        <a:t>id 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загрузки уведомлений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extLst>
                  <a:ext uri="{0D108BD9-81ED-4DB2-BD59-A6C34878D82A}">
                    <a16:rowId xmlns:a16="http://schemas.microsoft.com/office/drawing/2014/main" val="1102365422"/>
                  </a:ext>
                </a:extLst>
              </a:tr>
              <a:tr h="508574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getNew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последнего полученного пользователем уведомления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Уведомления, относящиеся к пользователю </a:t>
                      </a: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которых больше полученного в запросе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получения новых уведомлений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extLst>
                  <a:ext uri="{0D108BD9-81ED-4DB2-BD59-A6C34878D82A}">
                    <a16:rowId xmlns:a16="http://schemas.microsoft.com/office/drawing/2014/main" val="3678555568"/>
                  </a:ext>
                </a:extLst>
              </a:tr>
              <a:tr h="250852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 dirty="0">
                          <a:effectLst/>
                        </a:rPr>
                        <a:t>send</a:t>
                      </a:r>
                      <a:endParaRPr lang="ru-RU" sz="5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Данные уведомления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Статус запроса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 dirty="0">
                          <a:effectLst/>
                        </a:rPr>
                        <a:t>Используется для отправки уведомлений</a:t>
                      </a:r>
                      <a:endParaRPr lang="ru-RU" sz="5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extLst>
                  <a:ext uri="{0D108BD9-81ED-4DB2-BD59-A6C34878D82A}">
                    <a16:rowId xmlns:a16="http://schemas.microsoft.com/office/drawing/2014/main" val="744720659"/>
                  </a:ext>
                </a:extLst>
              </a:tr>
            </a:tbl>
          </a:graphicData>
        </a:graphic>
      </p:graphicFrame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8C49D822-94EE-73CA-4003-77BA460473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794903"/>
              </p:ext>
            </p:extLst>
          </p:nvPr>
        </p:nvGraphicFramePr>
        <p:xfrm>
          <a:off x="6447567" y="1407568"/>
          <a:ext cx="2614657" cy="344012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784260">
                  <a:extLst>
                    <a:ext uri="{9D8B030D-6E8A-4147-A177-3AD203B41FA5}">
                      <a16:colId xmlns:a16="http://schemas.microsoft.com/office/drawing/2014/main" val="2452525237"/>
                    </a:ext>
                  </a:extLst>
                </a:gridCol>
                <a:gridCol w="699355">
                  <a:extLst>
                    <a:ext uri="{9D8B030D-6E8A-4147-A177-3AD203B41FA5}">
                      <a16:colId xmlns:a16="http://schemas.microsoft.com/office/drawing/2014/main" val="2294872594"/>
                    </a:ext>
                  </a:extLst>
                </a:gridCol>
                <a:gridCol w="565935">
                  <a:extLst>
                    <a:ext uri="{9D8B030D-6E8A-4147-A177-3AD203B41FA5}">
                      <a16:colId xmlns:a16="http://schemas.microsoft.com/office/drawing/2014/main" val="3358690112"/>
                    </a:ext>
                  </a:extLst>
                </a:gridCol>
                <a:gridCol w="565107">
                  <a:extLst>
                    <a:ext uri="{9D8B030D-6E8A-4147-A177-3AD203B41FA5}">
                      <a16:colId xmlns:a16="http://schemas.microsoft.com/office/drawing/2014/main" val="3507037322"/>
                    </a:ext>
                  </a:extLst>
                </a:gridCol>
              </a:tblGrid>
              <a:tr h="51049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react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оповещения к которому привязана реакция, </a:t>
                      </a: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оповещения которое будет отправлено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Статус запроса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отправки реакций на уведомления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extLst>
                  <a:ext uri="{0D108BD9-81ED-4DB2-BD59-A6C34878D82A}">
                    <a16:rowId xmlns:a16="http://schemas.microsoft.com/office/drawing/2014/main" val="2455850112"/>
                  </a:ext>
                </a:extLst>
              </a:tr>
              <a:tr h="51049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unreactedCount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Запрос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Количество оповещений, требующих реакции в том или ином типе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загрузки количества уведомлений, требующих реакции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extLst>
                  <a:ext uri="{0D108BD9-81ED-4DB2-BD59-A6C34878D82A}">
                    <a16:rowId xmlns:a16="http://schemas.microsoft.com/office/drawing/2014/main" val="1820560815"/>
                  </a:ext>
                </a:extLst>
              </a:tr>
              <a:tr h="424259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getSendedNotifications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последнего загруженного оповещения 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Двадцать оповещений, следующих после него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получения данных об отправленных уведомлениях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extLst>
                  <a:ext uri="{0D108BD9-81ED-4DB2-BD59-A6C34878D82A}">
                    <a16:rowId xmlns:a16="http://schemas.microsoft.com/office/drawing/2014/main" val="2888524850"/>
                  </a:ext>
                </a:extLst>
              </a:tr>
              <a:tr h="251797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getComments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оповещения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Комментарии к оповещению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получения комментариев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extLst>
                  <a:ext uri="{0D108BD9-81ED-4DB2-BD59-A6C34878D82A}">
                    <a16:rowId xmlns:a16="http://schemas.microsoft.com/office/drawing/2014/main" val="996600655"/>
                  </a:ext>
                </a:extLst>
              </a:tr>
              <a:tr h="596721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getCommentsCount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Список из </a:t>
                      </a: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оповещений количество комментариев, к которым требуется загрузить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Количество комментариев для каждого из оповещений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получения информации о количества комментариев под оповещением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extLst>
                  <a:ext uri="{0D108BD9-81ED-4DB2-BD59-A6C34878D82A}">
                    <a16:rowId xmlns:a16="http://schemas.microsoft.com/office/drawing/2014/main" val="3775061689"/>
                  </a:ext>
                </a:extLst>
              </a:tr>
              <a:tr h="338028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getNewComments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Список из </a:t>
                      </a: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оповещений для обновления комментариев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Новые комментарии к оповещению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обновления комментариев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extLst>
                  <a:ext uri="{0D108BD9-81ED-4DB2-BD59-A6C34878D82A}">
                    <a16:rowId xmlns:a16="http://schemas.microsoft.com/office/drawing/2014/main" val="1475388446"/>
                  </a:ext>
                </a:extLst>
              </a:tr>
              <a:tr h="251797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newComment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оповещения и текст комментария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Статус запроса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отправки комментариев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extLst>
                  <a:ext uri="{0D108BD9-81ED-4DB2-BD59-A6C34878D82A}">
                    <a16:rowId xmlns:a16="http://schemas.microsoft.com/office/drawing/2014/main" val="3321292779"/>
                  </a:ext>
                </a:extLst>
              </a:tr>
              <a:tr h="51049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 dirty="0" err="1">
                          <a:effectLst/>
                        </a:rPr>
                        <a:t>updateSended</a:t>
                      </a:r>
                      <a:endParaRPr lang="ru-RU" sz="5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Список из </a:t>
                      </a: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оповещений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Данные оповещений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 dirty="0">
                          <a:effectLst/>
                        </a:rPr>
                        <a:t>Используется для обновления данных об отправленных оповещениях</a:t>
                      </a:r>
                      <a:endParaRPr lang="ru-RU" sz="5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extLst>
                  <a:ext uri="{0D108BD9-81ED-4DB2-BD59-A6C34878D82A}">
                    <a16:rowId xmlns:a16="http://schemas.microsoft.com/office/drawing/2014/main" val="244959601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BE013E0-666E-E78E-B8B2-F1FD4D72B8E5}"/>
              </a:ext>
            </a:extLst>
          </p:cNvPr>
          <p:cNvSpPr txBox="1"/>
          <p:nvPr/>
        </p:nvSpPr>
        <p:spPr>
          <a:xfrm>
            <a:off x="376213" y="1099791"/>
            <a:ext cx="3036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Пути в роутере </a:t>
            </a:r>
            <a:r>
              <a:rPr lang="en-US" dirty="0" err="1"/>
              <a:t>authRouter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D9BA67-C937-C1A8-5F87-8A829A6A3337}"/>
              </a:ext>
            </a:extLst>
          </p:cNvPr>
          <p:cNvSpPr txBox="1"/>
          <p:nvPr/>
        </p:nvSpPr>
        <p:spPr>
          <a:xfrm>
            <a:off x="3969131" y="1043682"/>
            <a:ext cx="3036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Пути в роутере </a:t>
            </a:r>
            <a:r>
              <a:rPr lang="en-US" dirty="0" err="1"/>
              <a:t>notificationRouter</a:t>
            </a:r>
            <a:endParaRPr lang="ru-RU" dirty="0"/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38E9E66-E881-6BE5-9506-2ADF88B2730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67461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2810107" y="483518"/>
            <a:ext cx="6020709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КЛИЕНТСКАЯ ЧАСТЬ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B3F118D-75A0-D090-80CF-E95D607FC9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65" y="1245552"/>
            <a:ext cx="1028468" cy="1955016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07FD89E-06FD-80DD-0C00-C18D6634C2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2982" y="1245552"/>
            <a:ext cx="3663292" cy="1957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6A98611-C5E2-64FF-7E02-2546170B2AB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7689" y="1232325"/>
            <a:ext cx="4004007" cy="3339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FD754C5-71C3-6187-B184-B579BEFEA3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7322" y="3301592"/>
            <a:ext cx="1577980" cy="1270408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DFFE5826-B6E9-3B4E-CAE9-A0B70155FFA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697216" y="4767263"/>
            <a:ext cx="2133600" cy="27384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6858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2810107" y="483518"/>
            <a:ext cx="6020709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ИНТЕРФЕЙС КЛИЕНТСКОЙ ЧАСТИ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86B6EED-1664-DB95-447B-1A533915CF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954" y="1148986"/>
            <a:ext cx="3999748" cy="2010526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1336522-443E-86AC-8105-DFEF148340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2424" y="1838588"/>
            <a:ext cx="5038392" cy="253759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D789908-95BF-A1CF-E5BD-B75C37B1A09F}"/>
              </a:ext>
            </a:extLst>
          </p:cNvPr>
          <p:cNvSpPr txBox="1"/>
          <p:nvPr/>
        </p:nvSpPr>
        <p:spPr>
          <a:xfrm>
            <a:off x="476954" y="3159512"/>
            <a:ext cx="24892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Страница аутентификации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860170-966C-4EE4-261F-3D8946BFA6F5}"/>
              </a:ext>
            </a:extLst>
          </p:cNvPr>
          <p:cNvSpPr txBox="1"/>
          <p:nvPr/>
        </p:nvSpPr>
        <p:spPr>
          <a:xfrm>
            <a:off x="3792424" y="4402790"/>
            <a:ext cx="24892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Главная страница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31A958A-BDE4-502C-973D-B9779D10C38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769100" y="4710567"/>
            <a:ext cx="2133600" cy="27384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626559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2810107" y="483518"/>
            <a:ext cx="6020709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ИНТЕРФЕЙС КЛИЕНТСКОЙ ЧАСТИ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1409E15-A504-00EA-9571-7EAD72B5A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956" y="1167989"/>
            <a:ext cx="4964430" cy="251015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36E5CA6-36F0-9234-B6DC-9D817DA8F2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3551" y="1963420"/>
            <a:ext cx="5478145" cy="275145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87B8105-D01B-A31B-9D64-614D979D1CF4}"/>
              </a:ext>
            </a:extLst>
          </p:cNvPr>
          <p:cNvSpPr txBox="1"/>
          <p:nvPr/>
        </p:nvSpPr>
        <p:spPr>
          <a:xfrm>
            <a:off x="602956" y="3734844"/>
            <a:ext cx="24892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Создание уведомлений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FC4631-F76D-7553-15CF-EDD356833F5A}"/>
              </a:ext>
            </a:extLst>
          </p:cNvPr>
          <p:cNvSpPr txBox="1"/>
          <p:nvPr/>
        </p:nvSpPr>
        <p:spPr>
          <a:xfrm>
            <a:off x="3523551" y="4715548"/>
            <a:ext cx="26393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Отправленные уведомления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F541548F-C269-5782-BFFB-6641B2E1183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697216" y="4749481"/>
            <a:ext cx="2133600" cy="27384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30235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2810107" y="483518"/>
            <a:ext cx="6020709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ИНТЕРФЕЙС КЛИЕНТСКОЙ ЧАСТИ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EC49088C-F1E3-C6FD-C7E1-8DB4B70EB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0470" y="1108592"/>
            <a:ext cx="6383059" cy="320004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A14F44A-5F71-3240-DCDA-2B9725C78DA7}"/>
              </a:ext>
            </a:extLst>
          </p:cNvPr>
          <p:cNvSpPr txBox="1"/>
          <p:nvPr/>
        </p:nvSpPr>
        <p:spPr>
          <a:xfrm>
            <a:off x="3613783" y="4308635"/>
            <a:ext cx="31587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Регистрация новых сотрудников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9D82BA-F282-B413-EB39-85F3773C03B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696729" y="4760913"/>
            <a:ext cx="2133600" cy="27384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68170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4"/>
          <p:cNvSpPr txBox="1">
            <a:spLocks noGrp="1"/>
          </p:cNvSpPr>
          <p:nvPr>
            <p:ph type="body" idx="1"/>
          </p:nvPr>
        </p:nvSpPr>
        <p:spPr>
          <a:xfrm>
            <a:off x="467544" y="1215405"/>
            <a:ext cx="8454783" cy="34445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628650" indent="-171450">
              <a:lnSpc>
                <a:spcPct val="150000"/>
              </a:lnSpc>
              <a:spcAft>
                <a:spcPts val="1000"/>
              </a:spcAft>
            </a:pPr>
            <a:r>
              <a:rPr lang="ru-RU" sz="11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Целью создаваемой системы является повышение эффективности сотрудников компании за счет использования «реакций» и возможности массовой рассылки оповещений. В конечном итоге ожидается снижение времени на взаимодействие между сотрудниками до 50%.</a:t>
            </a:r>
            <a:endParaRPr lang="ru-RU" sz="11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628650" indent="-171450">
              <a:lnSpc>
                <a:spcPct val="150000"/>
              </a:lnSpc>
              <a:spcAft>
                <a:spcPts val="1000"/>
              </a:spcAft>
            </a:pPr>
            <a:r>
              <a:rPr lang="ru-RU" sz="11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Если допустить, что сотрудники в среднем тратят 1 час в день на взаимодействие между собой, а в году 200 рабочих дней, то при средней стоимости часа работы в 300р затраты на взаимодействие сотрудников составляют 60000р в год</a:t>
            </a:r>
            <a:r>
              <a:rPr lang="en-US" sz="11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ru-RU" sz="11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на человека.</a:t>
            </a:r>
          </a:p>
          <a:p>
            <a:pPr marL="628650" indent="-171450">
              <a:lnSpc>
                <a:spcPct val="150000"/>
              </a:lnSpc>
              <a:spcAft>
                <a:spcPts val="1000"/>
              </a:spcAft>
            </a:pPr>
            <a:r>
              <a:rPr lang="ru-RU" sz="11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При снижении времени взаимодействия на 50% получается экономия 30000р в год за каждого сотрудника.</a:t>
            </a:r>
          </a:p>
          <a:p>
            <a:pPr marL="628650" indent="-171450">
              <a:lnSpc>
                <a:spcPct val="150000"/>
              </a:lnSpc>
              <a:spcAft>
                <a:spcPts val="1000"/>
              </a:spcAft>
            </a:pPr>
            <a:r>
              <a:rPr lang="ru-RU" sz="11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Предположим, что в компании работает 50 человек. Таким образом компания сможет экономить 1500000р в год.</a:t>
            </a:r>
          </a:p>
          <a:p>
            <a:pPr marL="628650" indent="-171450">
              <a:lnSpc>
                <a:spcPct val="150000"/>
              </a:lnSpc>
              <a:spcAft>
                <a:spcPts val="1000"/>
              </a:spcAft>
            </a:pPr>
            <a:r>
              <a:rPr lang="ru-RU" sz="11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При стоимости программы в 500000р и всей требуемой инфраструктуры в 1000000р. Срок окупаемости составит 1,5года. </a:t>
            </a:r>
          </a:p>
          <a:p>
            <a:pPr indent="0">
              <a:lnSpc>
                <a:spcPct val="150000"/>
              </a:lnSpc>
              <a:spcAft>
                <a:spcPts val="1000"/>
              </a:spcAft>
              <a:buNone/>
            </a:pP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2074127" y="483518"/>
            <a:ext cx="6756689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ТЕХНИКО-ЭКОНОМИЧЕСКОЕ ОБОСНАВАНИЕ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7D5FDE3C-895A-F7AA-7B2B-C23D3E14CBA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697216" y="4750891"/>
            <a:ext cx="2133600" cy="27384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156056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5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5"/>
          <p:cNvSpPr txBox="1">
            <a:spLocks noGrp="1"/>
          </p:cNvSpPr>
          <p:nvPr>
            <p:ph type="body" idx="1"/>
          </p:nvPr>
        </p:nvSpPr>
        <p:spPr>
          <a:xfrm>
            <a:off x="337443" y="1203598"/>
            <a:ext cx="8429625" cy="3071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360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ru-RU" sz="17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В ходе написания ВКР была проанализирована и описана информационная система и её конкуренты.</a:t>
            </a:r>
          </a:p>
          <a:p>
            <a:pPr marL="0" lvl="0" indent="360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ru-RU" sz="17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В ходе проектирования системы была описана её структура, функционал и процессы, происходящие как при взаимодействии между пользователем и системой, так и между элементами самой системы.</a:t>
            </a:r>
            <a:endParaRPr lang="ru-RU" sz="17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lvl="0" indent="360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ru-RU" sz="17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Был описан процесс разработки базы данных, серверной части и клиентской части приложения.</a:t>
            </a:r>
          </a:p>
          <a:p>
            <a:pPr marL="0" indent="360000">
              <a:spcBef>
                <a:spcPts val="0"/>
              </a:spcBef>
              <a:buSzPts val="2000"/>
              <a:buNone/>
            </a:pPr>
            <a:r>
              <a:rPr lang="ru-RU" sz="17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В конечном итоге было приведено технико-экономическое обоснование проекта, определение класса защищенности системы, функциональное тестирование.</a:t>
            </a:r>
          </a:p>
          <a:p>
            <a:pPr marL="0" indent="360000">
              <a:spcBef>
                <a:spcPts val="0"/>
              </a:spcBef>
              <a:buSzPts val="2000"/>
              <a:buNone/>
            </a:pPr>
            <a:r>
              <a:rPr lang="ru-RU" sz="17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В дальнейшем планируется работа над интерфейсом веб приложения, расширением возможностей рассылки оповещений и предоставление возможности прикрепления документов к уведомлениям.</a:t>
            </a:r>
          </a:p>
          <a:p>
            <a:pPr marL="0" lvl="0" indent="360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dirty="0">
              <a:latin typeface="Roboto"/>
              <a:ea typeface="Roboto"/>
              <a:cs typeface="Roboto"/>
              <a:sym typeface="Roboto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None/>
            </a:pPr>
            <a:endParaRPr sz="17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" name="Google Shape;116;p5"/>
          <p:cNvSpPr txBox="1">
            <a:spLocks noGrp="1"/>
          </p:cNvSpPr>
          <p:nvPr>
            <p:ph type="title"/>
          </p:nvPr>
        </p:nvSpPr>
        <p:spPr>
          <a:xfrm>
            <a:off x="4860032" y="483518"/>
            <a:ext cx="397078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ЗАКЛЮЧЕНИЕ</a:t>
            </a:r>
            <a:endParaRPr sz="2400" b="1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8EC553FC-6FF4-529E-00BB-2C8D22ADDB3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697216" y="4767263"/>
            <a:ext cx="2133600" cy="27384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689800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6"/>
          <p:cNvSpPr txBox="1"/>
          <p:nvPr/>
        </p:nvSpPr>
        <p:spPr>
          <a:xfrm>
            <a:off x="12184" y="1851670"/>
            <a:ext cx="9144000" cy="707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СПАСИБО ЗА ВНИМАНИЕ!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6"/>
          <p:cNvSpPr txBox="1"/>
          <p:nvPr/>
        </p:nvSpPr>
        <p:spPr>
          <a:xfrm>
            <a:off x="4913971" y="3715576"/>
            <a:ext cx="4093476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ru-RU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Мехоношин Владислав Антонович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ru-RU" sz="18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тел.: 8-952-318-65-68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ru-RU" sz="18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e-mail</a:t>
            </a:r>
            <a:r>
              <a:rPr lang="ru-RU" sz="18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vladmexon@gmail.com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C973438B-C828-66BE-428F-3384D885AB2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731000" y="4767263"/>
            <a:ext cx="2133600" cy="27384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16</a:t>
            </a:fld>
            <a:endParaRPr lang="ru-RU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1322</Words>
  <Application>Microsoft Office PowerPoint</Application>
  <PresentationFormat>Экран (16:9)</PresentationFormat>
  <Paragraphs>195</Paragraphs>
  <Slides>16</Slides>
  <Notes>16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1" baseType="lpstr">
      <vt:lpstr>Arial</vt:lpstr>
      <vt:lpstr>Calibri</vt:lpstr>
      <vt:lpstr>Roboto</vt:lpstr>
      <vt:lpstr>Times New Roman</vt:lpstr>
      <vt:lpstr>Тема Office</vt:lpstr>
      <vt:lpstr>ВЫПУСКНАЯ КВАЛИФИКАЦИОННАЯ РАБОТА на соискание академической степени бакалавра на тему</vt:lpstr>
      <vt:lpstr>ЦЕЛЬ И ЗАДАЧИ</vt:lpstr>
      <vt:lpstr>АКУТУАЛЬНОСТЬ</vt:lpstr>
      <vt:lpstr>КОНКУРЕНТОСПОСОБНОСТЬ</vt:lpstr>
      <vt:lpstr>ТРЕБОВАНИЯ К СИСТЕМЕ</vt:lpstr>
      <vt:lpstr>АРХИТЕКТУРА СИСТЕМЫ</vt:lpstr>
      <vt:lpstr>ФУНКЦИОНАЛЬНЫЕ ВОЗМОЖНОСТИ</vt:lpstr>
      <vt:lpstr>БАЗА ДАННЫХ</vt:lpstr>
      <vt:lpstr>СЕРВЕРНАЯ ЧАСТЬ</vt:lpstr>
      <vt:lpstr>КЛИЕНТСКАЯ ЧАСТЬ</vt:lpstr>
      <vt:lpstr>ИНТЕРФЕЙС КЛИЕНТСКОЙ ЧАСТИ</vt:lpstr>
      <vt:lpstr>ИНТЕРФЕЙС КЛИЕНТСКОЙ ЧАСТИ</vt:lpstr>
      <vt:lpstr>ИНТЕРФЕЙС КЛИЕНТСКОЙ ЧАСТИ</vt:lpstr>
      <vt:lpstr>ТЕХНИКО-ЭКОНОМИЧЕСКОЕ ОБОСНАВАНИЕ</vt:lpstr>
      <vt:lpstr>ЗАКЛЮЧЕНИЕ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Владислав Мехоношин</dc:creator>
  <cp:lastModifiedBy>Владислав Мехоношин</cp:lastModifiedBy>
  <cp:revision>10</cp:revision>
  <dcterms:modified xsi:type="dcterms:W3CDTF">2024-06-04T15:19:24Z</dcterms:modified>
</cp:coreProperties>
</file>