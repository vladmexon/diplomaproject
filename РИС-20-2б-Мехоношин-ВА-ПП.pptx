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61" r:id="rId5"/>
    <p:sldId id="274" r:id="rId6"/>
    <p:sldId id="262" r:id="rId7"/>
    <p:sldId id="264" r:id="rId8"/>
    <p:sldId id="263" r:id="rId9"/>
    <p:sldId id="268" r:id="rId10"/>
    <p:sldId id="265" r:id="rId11"/>
    <p:sldId id="269" r:id="rId12"/>
    <p:sldId id="271" r:id="rId13"/>
    <p:sldId id="270" r:id="rId14"/>
    <p:sldId id="272" r:id="rId15"/>
    <p:sldId id="273" r:id="rId16"/>
    <p:sldId id="275" r:id="rId17"/>
    <p:sldId id="266" r:id="rId18"/>
    <p:sldId id="260" r:id="rId19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dkSishXwXPOLq7/uFe+Y+f0xk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D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257" autoAdjust="0"/>
  </p:normalViewPr>
  <p:slideViewPr>
    <p:cSldViewPr snapToGrid="0">
      <p:cViewPr varScale="1">
        <p:scale>
          <a:sx n="129" d="100"/>
          <a:sy n="129" d="100"/>
        </p:scale>
        <p:origin x="1104" y="13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Приветствую. Я </a:t>
            </a:r>
            <a:r>
              <a:rPr lang="ru-RU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Антонович. Вам представляется выпускная квалификационная работа на тему </a:t>
            </a:r>
            <a:r>
              <a:rPr lang="ru-RU" sz="12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ru-RU" sz="12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системы оповещения сотрудников компании».</a:t>
            </a:r>
            <a:endParaRPr lang="ru-RU" sz="1200" dirty="0"/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dirty="0"/>
              <a:t> 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dirty="0"/>
              <a:t>Целью работы является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повышение эффективности внутрифирменной коммуникации и оперативного информирования персонала о важных событиях и изменениях.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dirty="0"/>
              <a:t>Для достижения цели были поставлены следующие задачи</a:t>
            </a:r>
            <a:r>
              <a:rPr lang="en-US" dirty="0"/>
              <a:t>:</a:t>
            </a:r>
            <a:endParaRPr lang="ru-RU" dirty="0"/>
          </a:p>
        </p:txBody>
      </p:sp>
      <p:sp>
        <p:nvSpPr>
          <p:cNvPr id="95" name="Google Shape;9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360000" algn="just">
              <a:spcBef>
                <a:spcPts val="0"/>
              </a:spcBef>
              <a:buSzPts val="1600"/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Компания ООО «Веб Депо» занимается разработкой платформенных решений для предприятий в том числе территориально распределённых. Одной из решаемых задач является оперативное взаимодействие сотрудников.</a:t>
            </a:r>
            <a:endParaRPr lang="en-US" sz="12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Система оповещения сотрудников компании — это инструмент, который используется для передачи сообщений сотрудникам компании о различных важных событиях, таких как: встречи, задачи, происшествия и т.д. 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Разрабатываемая система будет распространяться на платной основе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и нацелена на работу в различных предприятиях, включая предприятия гос. сектора в условиях запрета на установку дополнительного ПО и доступа во внешние сети. </a:t>
            </a:r>
            <a:endParaRPr lang="en-US"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Особенности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по сравнению с другими методами оповещения</a:t>
            </a:r>
            <a:r>
              <a:rPr lang="en-US" sz="12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lang="en-US" sz="1400" dirty="0">
              <a:latin typeface="Arial"/>
              <a:ea typeface="Roboto"/>
              <a:cs typeface="Arial"/>
              <a:sym typeface="Arial"/>
            </a:endParaRP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400" dirty="0">
                <a:latin typeface="Arial"/>
                <a:ea typeface="Roboto"/>
                <a:cs typeface="Arial"/>
                <a:sym typeface="Arial"/>
              </a:rPr>
              <a:t>Простота массовой рассылки</a:t>
            </a: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400" dirty="0">
                <a:latin typeface="Arial"/>
                <a:ea typeface="Roboto"/>
                <a:cs typeface="Arial"/>
                <a:sym typeface="Arial"/>
              </a:rPr>
              <a:t>Реакции</a:t>
            </a: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400" dirty="0">
                <a:latin typeface="Arial"/>
                <a:ea typeface="Roboto"/>
                <a:cs typeface="Arial"/>
                <a:sym typeface="Arial"/>
              </a:rPr>
              <a:t>Контроль осведомленности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741516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В итоге рассмотренные продукты не могут предоставить функционал для создания и массовой рассылки нестандартных уведомлений с возможностью встраивания в них реакций и контролем осведомленности сотрудников в условиях запрета на установку дополнительного ПО и доступа во внешние сети.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89014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02610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На данном слайде вы можете наблюдать диаграмму демонстрирующую ФУНКЦИОНАЛЬНЫЕ ВОЗМОЖНОСТИ. Собственно в системе выделено 2 основные роли: сотрудник и работник отдела кадров. Каждый сотрудник должен иметь возможность создать, сохранить в черновик, отправить уведомление, просмотреть список отправленных уведомлений, а также просмотреть и отреагировать на полученные им уведомления. А работник отдела кадров регистрировать в системе новых сотрудников и изменять их информацию.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825547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dirty="0"/>
              <a:t>На основе требований о работе приложения в условиях запрета на установку дополнительного ПО, было принято решение о создании клиент серверного веб приложения.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r>
              <a:rPr lang="ru-RU" dirty="0"/>
              <a:t>API приложение является посредником между клиентом и базой данных предоставляя удобное API для клиента. Клиентом является одностраничное приложение статические файлы которого доставляются веб сервером. Сервер электронной почты служит для рассылки данных аутентификации новым сотрудникам.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23952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На данном слайде вы можете видеть диаграмму базы данных. Центральными объектами в базе являются таблицы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employees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notifications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хранящими данные о пользователях и уведомлениях соответственно. Дополнительные данные об уведомлениях хранят таблицы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recipients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buttons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. Стоит отметить, что таблица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notification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хранит данные обо всех уведомлениях, не важно являются они черновиками или отправлены. При отправлении уведомления в таблице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sended_notification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хранятся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id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уведомления, отправителя и получателя.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Positions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хранит список возможных должностей.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Notification_types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все возможные типы уведомлений.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757242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Основой приложения на express.js являются маршруты(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router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) и промежуточные функции(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middleware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). Маршруты позволяют определить как приложение будет реагировать на забросы по тем или иным путям. К каждому из путей будет привязан список из промежуточных функций, занимающихся обработкой запроса. На данном слайде вы можете наблюдать все возможные пути, что они принимают, что возвращают и для чего используются. 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53586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Клиентская часть приложения реализована с использованием фреймворка vue.js. Данный фреймворк используется для создания пользовательских интерфейсов и предоставляет удобный способ их описания в виде компонентов.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Vuex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– библиотека предоставляющая возможность создания централизованного хранилища доступ к которому будет доступен в любом компоненте.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Для взаимодействия с API используется библиотека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axios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 предоставляющая расширенные возможности для описания запросов.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Компоненты отображают данные из хранилища. Хранилища служат для обработки данных. Для получения данных хранилища обращаются к объекту API, который построен на базе библиотеки </a:t>
            </a:r>
            <a:r>
              <a:rPr lang="ru-RU" sz="1200" dirty="0" err="1">
                <a:latin typeface="Roboto"/>
                <a:ea typeface="Roboto"/>
                <a:cs typeface="Roboto"/>
                <a:sym typeface="Roboto"/>
              </a:rPr>
              <a:t>axios</a:t>
            </a: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28183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На данном слайде вы можете видеть интерфейс аутентификации и главной страницы. Состоит из 2 основных элементов: меню, и списка уведомлений. Под текстом уведомлений есть кнопки для реакции и раскрытия комментариев. 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690011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На данном слайде вы можете видеть интерфейс создания уведомлений и просмотра информации об отправленных уведомлениях. На странице Отправленных уведомлений можно увидеть сколько человек отреагировало и через сколько минут с момента отправки, а также просмотреть и отправить комментарии под уведомления.</a:t>
            </a:r>
          </a:p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43806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ru-RU" sz="1200" dirty="0">
                <a:latin typeface="Roboto"/>
                <a:ea typeface="Roboto"/>
                <a:cs typeface="Roboto"/>
                <a:sym typeface="Roboto"/>
              </a:rPr>
              <a:t>На данном слайде вы можете видеть интерфейс регистрации новых пользователей. Он доступен только пользователям с определенными ролями, по задумке ими должны являться сотрудники отдела кадров. После регистрации на указанную электронную почту придут данные для аутентификации. Также на странице можно изменить данные зарегистрированных пользователей.</a:t>
            </a: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417432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1870847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185719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1" name="Google Shape;111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17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998053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9" name="Google Shape;11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4648200" y="1200151"/>
            <a:ext cx="4038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457200" y="1631156"/>
            <a:ext cx="4040188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4645026" y="1151335"/>
            <a:ext cx="4041775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4645026" y="1631156"/>
            <a:ext cx="4041775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3575050" y="204788"/>
            <a:ext cx="5111750" cy="4389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457201" y="1076326"/>
            <a:ext cx="3008313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1792288" y="4025503"/>
            <a:ext cx="5486400" cy="603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2874764" y="-1217413"/>
            <a:ext cx="3394472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5463778" y="1371601"/>
            <a:ext cx="4388644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272778" y="-609599"/>
            <a:ext cx="4388644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0" y="2089500"/>
            <a:ext cx="9144000" cy="96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latin typeface="Roboto"/>
                <a:ea typeface="Roboto"/>
                <a:cs typeface="Roboto"/>
                <a:sym typeface="Roboto"/>
              </a:rPr>
              <a:t>ВЫПУСКНАЯ КВАЛИФИКАЦИОННАЯ РАБОТА</a:t>
            </a:r>
            <a:br>
              <a:rPr lang="ru-RU" sz="2400" b="1">
                <a:latin typeface="Roboto"/>
                <a:ea typeface="Roboto"/>
                <a:cs typeface="Roboto"/>
                <a:sym typeface="Roboto"/>
              </a:rPr>
            </a:br>
            <a:r>
              <a:rPr lang="ru-RU" sz="1600">
                <a:latin typeface="Roboto"/>
                <a:ea typeface="Roboto"/>
                <a:cs typeface="Roboto"/>
                <a:sym typeface="Roboto"/>
              </a:rPr>
              <a:t>на соискание академической степени бакалавра</a:t>
            </a:r>
            <a:br>
              <a:rPr lang="ru-RU" sz="1600">
                <a:latin typeface="Roboto"/>
                <a:ea typeface="Roboto"/>
                <a:cs typeface="Roboto"/>
                <a:sym typeface="Roboto"/>
              </a:rPr>
            </a:br>
            <a:r>
              <a:rPr lang="ru-RU" sz="1600">
                <a:latin typeface="Roboto"/>
                <a:ea typeface="Roboto"/>
                <a:cs typeface="Roboto"/>
                <a:sym typeface="Roboto"/>
              </a:rPr>
              <a:t>на тему</a:t>
            </a: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5652120" y="3416920"/>
            <a:ext cx="34920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Выполнил: студент группы РИС-20-2б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Руководитель ВКР: 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ст. преп., Кузнецов Денис Борисович</a:t>
            </a:r>
            <a:endParaRPr sz="14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Консультант по предметной области: </a:t>
            </a:r>
            <a:endParaRPr sz="1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ст. преп., Кузнецов Денис Борисович</a:t>
            </a:r>
            <a:endParaRPr lang="ru-RU" sz="1400" dirty="0"/>
          </a:p>
        </p:txBody>
      </p:sp>
      <p:sp>
        <p:nvSpPr>
          <p:cNvPr id="90" name="Google Shape;90;p1"/>
          <p:cNvSpPr/>
          <p:nvPr/>
        </p:nvSpPr>
        <p:spPr>
          <a:xfrm>
            <a:off x="890786" y="1059582"/>
            <a:ext cx="7215188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Министерство науки и высшего образования Российской Федерации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Федеральное государственное автономное образовательное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учреждение высшего образования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ПЕРМСКИЙ НАЦИОНАЛЬНЫЙ ИССЛЕДОВАТЕЛЬСКИЙ </a:t>
            </a:r>
            <a:endParaRPr sz="10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ПОЛИТЕХНИЧЕСКИЙ УНИВЕРСИТЕТ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ru-RU" sz="1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Кафедра ИТАС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-3" y="3016823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ru-RU" sz="20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ru-RU" sz="20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ru-RU" sz="2000" b="1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системы оповещения сотрудников компании»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3895726" y="4661297"/>
            <a:ext cx="128272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ru-RU" sz="14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Пермь - 202</a:t>
            </a:r>
            <a:r>
              <a:rPr lang="en-US" sz="14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 sz="1400" b="0" i="0" u="none" strike="noStrike" cap="non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>
            <a:spLocks noGrp="1"/>
          </p:cNvSpPr>
          <p:nvPr>
            <p:ph type="title"/>
          </p:nvPr>
        </p:nvSpPr>
        <p:spPr>
          <a:xfrm>
            <a:off x="5076056" y="483518"/>
            <a:ext cx="3754760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ЦЕЛЬ И ЗАДАЧИ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>
            <a:spLocks noGrp="1"/>
          </p:cNvSpPr>
          <p:nvPr>
            <p:ph type="body" idx="1"/>
          </p:nvPr>
        </p:nvSpPr>
        <p:spPr>
          <a:xfrm>
            <a:off x="357189" y="1203598"/>
            <a:ext cx="8429700" cy="36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Цель работы: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 повышение эффективности внутрифирменной коммуникации и оперативного информирования персонала о важных событиях и изменениях.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b="1" dirty="0">
                <a:latin typeface="Roboto"/>
                <a:ea typeface="Roboto"/>
                <a:cs typeface="Roboto"/>
                <a:sym typeface="Roboto"/>
              </a:rPr>
              <a:t>Задачи работы:</a:t>
            </a:r>
            <a:endParaRPr lang="en-US" sz="1600" b="1" dirty="0">
              <a:latin typeface="Roboto"/>
              <a:ea typeface="Roboto"/>
              <a:cs typeface="Roboto"/>
              <a:sym typeface="Roboto"/>
            </a:endParaRP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обследовать существующие типовые процессы сотрудников компаний: об информировании о происшествиях, задачах и встречах,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проанализировать существующие системы оповещения,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сформулировать требования к системе оповещения сотрудников,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разработать техническое задание на создание системы оповещения, разработать прототип системы, </a:t>
            </a:r>
          </a:p>
          <a:p>
            <a:pPr>
              <a:spcAft>
                <a:spcPts val="1000"/>
              </a:spcAft>
            </a:pPr>
            <a:r>
              <a:rPr lang="ru-RU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проведение функционального тестирования.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16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23495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sz="16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2BF69BE-BBD0-F394-CB53-549E9B5214D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07723" y="4738676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2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29625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360000" algn="just">
              <a:spcBef>
                <a:spcPts val="0"/>
              </a:spcBef>
              <a:buSzPts val="1600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Компания ООО «Веб Депо» занимается разработкой платформенных решений для предприятий в том числе территориально распределённых. Одной из решаемых задач является оперативное взаимодействие сотрудников.</a:t>
            </a: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Система оповещения сотрудников компании — это инструмент, который используется для передачи сообщений сотрудникам компании о различных важных событиях, таких как: встречи, задачи, происшествия и т.д. 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Разрабатываемая система будет распространяться на платной основе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и нацелена на работу в различных предприятиях, включая предприятия гос. сектора в условиях запрета на установку дополнительного ПО и доступа во внешние сети. </a:t>
            </a:r>
            <a:endParaRPr lang="en-US" sz="16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Особенности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по сравнению с другими методами оповещения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:</a:t>
            </a:r>
            <a:endParaRPr lang="en-US" sz="1700" dirty="0">
              <a:latin typeface="Arial"/>
              <a:ea typeface="Roboto"/>
              <a:cs typeface="Arial"/>
              <a:sym typeface="Arial"/>
            </a:endParaRP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Roboto"/>
                <a:cs typeface="Arial"/>
                <a:sym typeface="Arial"/>
              </a:rPr>
              <a:t>Простота массовой рассылки</a:t>
            </a: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Roboto"/>
                <a:cs typeface="Arial"/>
                <a:sym typeface="Arial"/>
              </a:rPr>
              <a:t>Реакции</a:t>
            </a:r>
          </a:p>
          <a:p>
            <a:pPr marL="360000" indent="432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Roboto"/>
                <a:cs typeface="Arial"/>
                <a:sym typeface="Arial"/>
              </a:rPr>
              <a:t>Контроль осведомленности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АКУТУАЛЬНОСТЬ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F5808347-F483-0BFA-4ADB-094314B196A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45424" y="475089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3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520092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Для оценки конкурентоспособности и возможной корректировки требований, выдвигаемых к системе, были проанализированы популярные решения предоставляющие возможности для оповещения пользователей в корпоративной среде. 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Были рассмотрены следующие продукты: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Projecto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800" dirty="0" err="1">
                <a:latin typeface="Roboto"/>
                <a:ea typeface="Roboto"/>
                <a:cs typeface="Roboto"/>
                <a:sym typeface="Roboto"/>
              </a:rPr>
              <a:t>MyChat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 и Microsoft </a:t>
            </a:r>
            <a:r>
              <a:rPr lang="en-US" sz="1800" dirty="0">
                <a:latin typeface="Roboto"/>
                <a:ea typeface="Roboto"/>
                <a:cs typeface="Roboto"/>
                <a:sym typeface="Roboto"/>
              </a:rPr>
              <a:t>Teams</a:t>
            </a:r>
            <a:r>
              <a:rPr lang="ru-RU" sz="1800" dirty="0">
                <a:latin typeface="Roboto"/>
                <a:ea typeface="Roboto"/>
                <a:cs typeface="Roboto"/>
                <a:sym typeface="Roboto"/>
              </a:rPr>
              <a:t>.</a:t>
            </a:r>
          </a:p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endParaRPr sz="17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3427141" y="483518"/>
            <a:ext cx="540367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КОНКУРЕНТОСПОСОБНОСТЬ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DE965D7-A9FD-9FC8-8C15-3FDE19A224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37" y="1362936"/>
            <a:ext cx="3138055" cy="1574757"/>
          </a:xfrm>
          <a:prstGeom prst="rect">
            <a:avLst/>
          </a:prstGeom>
        </p:spPr>
      </p:pic>
      <p:pic>
        <p:nvPicPr>
          <p:cNvPr id="1026" name="Picture 2" descr="MyChat 8.0">
            <a:extLst>
              <a:ext uri="{FF2B5EF4-FFF2-40B4-BE49-F238E27FC236}">
                <a16:creationId xmlns:a16="http://schemas.microsoft.com/office/drawing/2014/main" id="{217DB8B7-637B-2649-659D-7BE0AAE6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9302" y="1890119"/>
            <a:ext cx="2681514" cy="1574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Announcing the Microsoft Teams Developer Preview - Microsoft 365 Developer  Blog">
            <a:extLst>
              <a:ext uri="{FF2B5EF4-FFF2-40B4-BE49-F238E27FC236}">
                <a16:creationId xmlns:a16="http://schemas.microsoft.com/office/drawing/2014/main" id="{788CF55B-603C-4A0D-7715-0C5EAC529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9917" y="2953819"/>
            <a:ext cx="2610642" cy="1468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6D1BC6-D355-0182-1E18-B9C192FF87DD}"/>
              </a:ext>
            </a:extLst>
          </p:cNvPr>
          <p:cNvSpPr txBox="1"/>
          <p:nvPr/>
        </p:nvSpPr>
        <p:spPr>
          <a:xfrm>
            <a:off x="5337717" y="4445621"/>
            <a:ext cx="3194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Рассматриваемые системы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5E275-A2CC-3555-3802-020A478C58C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19764" y="477900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4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677822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3427141" y="483518"/>
            <a:ext cx="5403675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КОНКУРЕНТОСПОСОБНОСТЬ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75E275-A2CC-3555-3802-020A478C58C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19764" y="477900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5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ACE500E0-AB20-2C8F-F4C3-6439E85E2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249787"/>
              </p:ext>
            </p:extLst>
          </p:nvPr>
        </p:nvGraphicFramePr>
        <p:xfrm>
          <a:off x="1603375" y="1146953"/>
          <a:ext cx="5937250" cy="3978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11350">
                  <a:extLst>
                    <a:ext uri="{9D8B030D-6E8A-4147-A177-3AD203B41FA5}">
                      <a16:colId xmlns:a16="http://schemas.microsoft.com/office/drawing/2014/main" val="3582225156"/>
                    </a:ext>
                  </a:extLst>
                </a:gridCol>
                <a:gridCol w="1306830">
                  <a:extLst>
                    <a:ext uri="{9D8B030D-6E8A-4147-A177-3AD203B41FA5}">
                      <a16:colId xmlns:a16="http://schemas.microsoft.com/office/drawing/2014/main" val="1885199806"/>
                    </a:ext>
                  </a:extLst>
                </a:gridCol>
                <a:gridCol w="1428115">
                  <a:extLst>
                    <a:ext uri="{9D8B030D-6E8A-4147-A177-3AD203B41FA5}">
                      <a16:colId xmlns:a16="http://schemas.microsoft.com/office/drawing/2014/main" val="33735821"/>
                    </a:ext>
                  </a:extLst>
                </a:gridCol>
                <a:gridCol w="1290955">
                  <a:extLst>
                    <a:ext uri="{9D8B030D-6E8A-4147-A177-3AD203B41FA5}">
                      <a16:colId xmlns:a16="http://schemas.microsoft.com/office/drawing/2014/main" val="31519732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 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>
                          <a:effectLst/>
                        </a:rPr>
                        <a:t>Projecto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>
                          <a:effectLst/>
                        </a:rPr>
                        <a:t>MyChat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>
                          <a:effectLst/>
                        </a:rPr>
                        <a:t>Microsoft Teams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26911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Массовая рассылка оповещений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 dirty="0">
                          <a:effectLst/>
                        </a:rPr>
                        <a:t>+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 dirty="0">
                          <a:effectLst/>
                        </a:rPr>
                        <a:t>+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800" dirty="0">
                          <a:effectLst/>
                        </a:rPr>
                        <a:t>+/-(</a:t>
                      </a:r>
                      <a:r>
                        <a:rPr lang="ru-RU" sz="800" dirty="0">
                          <a:effectLst/>
                        </a:rPr>
                        <a:t>только в групповых чатах</a:t>
                      </a:r>
                      <a:r>
                        <a:rPr lang="en-US" sz="800" dirty="0">
                          <a:effectLst/>
                        </a:rPr>
                        <a:t>)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94478302"/>
                  </a:ext>
                </a:extLst>
              </a:tr>
            </a:tbl>
          </a:graphicData>
        </a:graphic>
      </p:graphicFrame>
      <p:graphicFrame>
        <p:nvGraphicFramePr>
          <p:cNvPr id="12" name="Таблица 11">
            <a:extLst>
              <a:ext uri="{FF2B5EF4-FFF2-40B4-BE49-F238E27FC236}">
                <a16:creationId xmlns:a16="http://schemas.microsoft.com/office/drawing/2014/main" id="{C1EDDE0B-79D7-CB2E-C942-AC72EE5C74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6867893"/>
              </p:ext>
            </p:extLst>
          </p:nvPr>
        </p:nvGraphicFramePr>
        <p:xfrm>
          <a:off x="1603375" y="1557073"/>
          <a:ext cx="5937250" cy="33940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11349">
                  <a:extLst>
                    <a:ext uri="{9D8B030D-6E8A-4147-A177-3AD203B41FA5}">
                      <a16:colId xmlns:a16="http://schemas.microsoft.com/office/drawing/2014/main" val="2438274065"/>
                    </a:ext>
                  </a:extLst>
                </a:gridCol>
                <a:gridCol w="1306830">
                  <a:extLst>
                    <a:ext uri="{9D8B030D-6E8A-4147-A177-3AD203B41FA5}">
                      <a16:colId xmlns:a16="http://schemas.microsoft.com/office/drawing/2014/main" val="453777189"/>
                    </a:ext>
                  </a:extLst>
                </a:gridCol>
                <a:gridCol w="1428116">
                  <a:extLst>
                    <a:ext uri="{9D8B030D-6E8A-4147-A177-3AD203B41FA5}">
                      <a16:colId xmlns:a16="http://schemas.microsoft.com/office/drawing/2014/main" val="3303270688"/>
                    </a:ext>
                  </a:extLst>
                </a:gridCol>
                <a:gridCol w="1290955">
                  <a:extLst>
                    <a:ext uri="{9D8B030D-6E8A-4147-A177-3AD203B41FA5}">
                      <a16:colId xmlns:a16="http://schemas.microsoft.com/office/drawing/2014/main" val="628743713"/>
                    </a:ext>
                  </a:extLst>
                </a:gridCol>
              </a:tblGrid>
              <a:tr h="62742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Возможность привязки реакций к уведомлениям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solidFill>
                            <a:schemeClr val="tx1"/>
                          </a:solidFill>
                          <a:effectLst/>
                        </a:rPr>
                        <a:t>+/-(реакции есть только в заготовленных уведомлениях)</a:t>
                      </a:r>
                      <a:endParaRPr lang="ru-RU" sz="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ru-RU" sz="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ru-RU" sz="8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>
                    <a:solidFill>
                      <a:srgbClr val="E9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2493706"/>
                  </a:ext>
                </a:extLst>
              </a:tr>
              <a:tr h="62742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Возможность контроля осведомленности сотрудников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r>
                        <a:rPr lang="en-US" sz="800">
                          <a:effectLst/>
                        </a:rPr>
                        <a:t>/-(</a:t>
                      </a:r>
                      <a:r>
                        <a:rPr lang="ru-RU" sz="800">
                          <a:effectLst/>
                        </a:rPr>
                        <a:t>значок о прочтении сообщения</a:t>
                      </a:r>
                      <a:r>
                        <a:rPr lang="en-US" sz="800">
                          <a:effectLst/>
                        </a:rPr>
                        <a:t>)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extLst>
                  <a:ext uri="{0D108BD9-81ED-4DB2-BD59-A6C34878D82A}">
                    <a16:rowId xmlns:a16="http://schemas.microsoft.com/office/drawing/2014/main" val="79831673"/>
                  </a:ext>
                </a:extLst>
              </a:tr>
              <a:tr h="534808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Возможность интеграции с уже имеющимися системами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+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>
                    <a:solidFill>
                      <a:srgbClr val="E9EDF4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 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extLst>
                  <a:ext uri="{0D108BD9-81ED-4DB2-BD59-A6C34878D82A}">
                    <a16:rowId xmlns:a16="http://schemas.microsoft.com/office/drawing/2014/main" val="3530162613"/>
                  </a:ext>
                </a:extLst>
              </a:tr>
              <a:tr h="26194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Гибкость благодаря настройкам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extLst>
                  <a:ext uri="{0D108BD9-81ED-4DB2-BD59-A6C34878D82A}">
                    <a16:rowId xmlns:a16="http://schemas.microsoft.com/office/drawing/2014/main" val="4209354672"/>
                  </a:ext>
                </a:extLst>
              </a:tr>
              <a:tr h="39837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Взаимодействие сотрудников по средствам сообщений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+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extLst>
                  <a:ext uri="{0D108BD9-81ED-4DB2-BD59-A6C34878D82A}">
                    <a16:rowId xmlns:a16="http://schemas.microsoft.com/office/drawing/2014/main" val="3575360808"/>
                  </a:ext>
                </a:extLst>
              </a:tr>
              <a:tr h="9440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Возможность использования в условиях запрета на установку дополнительного ПО и доступа во внешние сети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-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>
                          <a:effectLst/>
                        </a:rPr>
                        <a:t>-</a:t>
                      </a:r>
                      <a:endParaRPr lang="ru-RU" sz="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800" dirty="0">
                          <a:effectLst/>
                        </a:rPr>
                        <a:t>-</a:t>
                      </a:r>
                      <a:endParaRPr lang="ru-RU" sz="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8132" marR="38132" marT="0" marB="0"/>
                </a:tc>
                <a:extLst>
                  <a:ext uri="{0D108BD9-81ED-4DB2-BD59-A6C34878D82A}">
                    <a16:rowId xmlns:a16="http://schemas.microsoft.com/office/drawing/2014/main" val="188987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079584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 dirty="0">
                <a:latin typeface="Roboto"/>
                <a:ea typeface="Roboto"/>
                <a:cs typeface="Roboto"/>
                <a:sym typeface="Roboto"/>
              </a:rPr>
              <a:t>В результате к системе были выдвинуты следующие требования</a:t>
            </a:r>
            <a:r>
              <a:rPr lang="en-US" sz="1600" dirty="0"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Массовая рассылка оповещений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привязки реакций к уведомлениям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интеграции с уже имеющимися системами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Гибкость благодаря настройкам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Взаимодействие сотрудников по средствам сообщений</a:t>
            </a:r>
          </a:p>
          <a:p>
            <a:pPr marL="0" indent="450000" algn="just">
              <a:spcBef>
                <a:spcPts val="0"/>
              </a:spcBef>
              <a:buSzPts val="1600"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Возможность использования в условиях запрета на установку дополнительного ПО и доступа во внешние сети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497659" y="483518"/>
            <a:ext cx="433315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ТРЕБОВАНИЯ К СИСТЕМЕ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88727" y="475089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6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185646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ФУНКЦИОНАЛЬНЫЕ ВОЗМОЖНОСТИ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820933-AF19-A552-2495-B99216A4A6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0" y="1295908"/>
            <a:ext cx="7878928" cy="3110633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F0CCACD-FCFC-9E3D-EF5F-2F27237B55B6}"/>
              </a:ext>
            </a:extLst>
          </p:cNvPr>
          <p:cNvSpPr txBox="1"/>
          <p:nvPr/>
        </p:nvSpPr>
        <p:spPr>
          <a:xfrm>
            <a:off x="3345366" y="4506093"/>
            <a:ext cx="30628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USE-CASE </a:t>
            </a:r>
            <a:r>
              <a:rPr lang="ru-RU" dirty="0"/>
              <a:t>диаграмма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C3B6BD2-1557-CC12-3685-62E031EAE5E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779443" y="4768209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7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97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5" y="1215405"/>
            <a:ext cx="4104456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700" dirty="0">
                <a:latin typeface="Arial"/>
                <a:ea typeface="Arial"/>
                <a:cs typeface="Arial"/>
                <a:sym typeface="Arial"/>
              </a:rPr>
              <a:t>На основе требований о работе приложения в условиях запрета на установку дополнительного ПО и доступа во внешние сети, было принято решение о создании клиент серверного веб приложения.</a:t>
            </a: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598039" y="483518"/>
            <a:ext cx="4232777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АРХИТЕКТУРА СИСТЕМЫ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22AF84F-38F2-1DA0-8BFB-5086BAF098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0271" y="1378529"/>
            <a:ext cx="4291425" cy="307452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2E2F14-8FA2-FA8E-4A83-4B90445BF8CA}"/>
              </a:ext>
            </a:extLst>
          </p:cNvPr>
          <p:cNvSpPr txBox="1"/>
          <p:nvPr/>
        </p:nvSpPr>
        <p:spPr>
          <a:xfrm>
            <a:off x="4710271" y="4453055"/>
            <a:ext cx="30405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С4 диаграмма системы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5B1D4F5-984E-658C-E199-B5F17909214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68096" y="4760832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8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250107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БАЗА ДАННЫХ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26255B5-E0F7-1271-A401-5FB7E010B1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0716" y="1154013"/>
            <a:ext cx="4457907" cy="3284173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05D210-AD23-F68A-BBDA-6D7015A46550}"/>
              </a:ext>
            </a:extLst>
          </p:cNvPr>
          <p:cNvSpPr txBox="1"/>
          <p:nvPr/>
        </p:nvSpPr>
        <p:spPr>
          <a:xfrm>
            <a:off x="3357805" y="4467923"/>
            <a:ext cx="2683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ER </a:t>
            </a:r>
            <a:r>
              <a:rPr lang="ru-RU" dirty="0"/>
              <a:t>диаграмма базы данных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D11364D-984D-FE9E-F35B-628D0A4A9C0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45431" y="4775700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9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526408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СЕРВЕРНАЯ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1029E6C-F1FA-E403-2510-383EA29D8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28566"/>
              </p:ext>
            </p:extLst>
          </p:nvPr>
        </p:nvGraphicFramePr>
        <p:xfrm>
          <a:off x="376213" y="1412081"/>
          <a:ext cx="3516349" cy="32910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19872">
                  <a:extLst>
                    <a:ext uri="{9D8B030D-6E8A-4147-A177-3AD203B41FA5}">
                      <a16:colId xmlns:a16="http://schemas.microsoft.com/office/drawing/2014/main" val="1228508444"/>
                    </a:ext>
                  </a:extLst>
                </a:gridCol>
                <a:gridCol w="845629">
                  <a:extLst>
                    <a:ext uri="{9D8B030D-6E8A-4147-A177-3AD203B41FA5}">
                      <a16:colId xmlns:a16="http://schemas.microsoft.com/office/drawing/2014/main" val="3188227940"/>
                    </a:ext>
                  </a:extLst>
                </a:gridCol>
                <a:gridCol w="838585">
                  <a:extLst>
                    <a:ext uri="{9D8B030D-6E8A-4147-A177-3AD203B41FA5}">
                      <a16:colId xmlns:a16="http://schemas.microsoft.com/office/drawing/2014/main" val="686120645"/>
                    </a:ext>
                  </a:extLst>
                </a:gridCol>
                <a:gridCol w="812263">
                  <a:extLst>
                    <a:ext uri="{9D8B030D-6E8A-4147-A177-3AD203B41FA5}">
                      <a16:colId xmlns:a16="http://schemas.microsoft.com/office/drawing/2014/main" val="2361384605"/>
                    </a:ext>
                  </a:extLst>
                </a:gridCol>
              </a:tblGrid>
              <a:tr h="12930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Путь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Принимает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Возвращает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Описание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497690097"/>
                  </a:ext>
                </a:extLst>
              </a:tr>
              <a:tr h="62381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login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содержащий логи и пароль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Cookie </a:t>
                      </a:r>
                      <a:r>
                        <a:rPr lang="ru-RU" sz="700">
                          <a:effectLst/>
                        </a:rPr>
                        <a:t>с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токеном и </a:t>
                      </a: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объект с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токеном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аутентификации</a:t>
                      </a:r>
                    </a:p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31493372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register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Json </a:t>
                      </a:r>
                      <a:r>
                        <a:rPr lang="ru-RU" sz="700">
                          <a:effectLst/>
                        </a:rPr>
                        <a:t>с данными сотрудника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регистрации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176114337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 dirty="0">
                          <a:effectLst/>
                        </a:rPr>
                        <a:t>logout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удаления </a:t>
                      </a: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токена при выходе из приложения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658884014"/>
                  </a:ext>
                </a:extLst>
              </a:tr>
              <a:tr h="33498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токен из с</a:t>
                      </a:r>
                      <a:r>
                        <a:rPr lang="en-US" sz="700">
                          <a:effectLst/>
                        </a:rPr>
                        <a:t>ookie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Refresh </a:t>
                      </a:r>
                      <a:r>
                        <a:rPr lang="ru-RU" sz="700">
                          <a:effectLst/>
                        </a:rPr>
                        <a:t>и </a:t>
                      </a:r>
                      <a:r>
                        <a:rPr lang="en-US" sz="700">
                          <a:effectLst/>
                        </a:rPr>
                        <a:t>access </a:t>
                      </a:r>
                      <a:r>
                        <a:rPr lang="ru-RU" sz="700">
                          <a:effectLst/>
                        </a:rPr>
                        <a:t>токены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Используется для обновления пары токенов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3852905931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getUsersData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последнего полученного пользователя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 </a:t>
                      </a:r>
                      <a:r>
                        <a:rPr lang="en-US" sz="700">
                          <a:effectLst/>
                        </a:rPr>
                        <a:t>id </a:t>
                      </a:r>
                      <a:r>
                        <a:rPr lang="ru-RU" sz="700">
                          <a:effectLst/>
                        </a:rPr>
                        <a:t>которых меньше полученного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Для получения данных пользователей на странице регистрации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750037685"/>
                  </a:ext>
                </a:extLst>
              </a:tr>
              <a:tr h="56443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700">
                          <a:effectLst/>
                        </a:rPr>
                        <a:t>updateRecipientsInfo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Данные пользователей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>
                          <a:effectLst/>
                        </a:rPr>
                        <a:t>Статус запроса</a:t>
                      </a:r>
                      <a:endParaRPr lang="ru-RU" sz="7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700" dirty="0">
                          <a:effectLst/>
                        </a:rPr>
                        <a:t>Обновление данных пользователей на странице регистрации</a:t>
                      </a:r>
                      <a:endParaRPr lang="ru-RU" sz="7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34895" marR="34895" marT="0" marB="0"/>
                </a:tc>
                <a:extLst>
                  <a:ext uri="{0D108BD9-81ED-4DB2-BD59-A6C34878D82A}">
                    <a16:rowId xmlns:a16="http://schemas.microsoft.com/office/drawing/2014/main" val="2971664344"/>
                  </a:ext>
                </a:extLst>
              </a:tr>
            </a:tbl>
          </a:graphicData>
        </a:graphic>
      </p:graphicFrame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D55FEFF0-72CE-48B0-1389-0F92C050DB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0946325"/>
              </p:ext>
            </p:extLst>
          </p:nvPr>
        </p:nvGraphicFramePr>
        <p:xfrm>
          <a:off x="3969131" y="1407568"/>
          <a:ext cx="2401867" cy="34611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01694">
                  <a:extLst>
                    <a:ext uri="{9D8B030D-6E8A-4147-A177-3AD203B41FA5}">
                      <a16:colId xmlns:a16="http://schemas.microsoft.com/office/drawing/2014/main" val="4135203874"/>
                    </a:ext>
                  </a:extLst>
                </a:gridCol>
                <a:gridCol w="498606">
                  <a:extLst>
                    <a:ext uri="{9D8B030D-6E8A-4147-A177-3AD203B41FA5}">
                      <a16:colId xmlns:a16="http://schemas.microsoft.com/office/drawing/2014/main" val="2673831172"/>
                    </a:ext>
                  </a:extLst>
                </a:gridCol>
                <a:gridCol w="678904">
                  <a:extLst>
                    <a:ext uri="{9D8B030D-6E8A-4147-A177-3AD203B41FA5}">
                      <a16:colId xmlns:a16="http://schemas.microsoft.com/office/drawing/2014/main" val="3368262030"/>
                    </a:ext>
                  </a:extLst>
                </a:gridCol>
                <a:gridCol w="522663">
                  <a:extLst>
                    <a:ext uri="{9D8B030D-6E8A-4147-A177-3AD203B41FA5}">
                      <a16:colId xmlns:a16="http://schemas.microsoft.com/office/drawing/2014/main" val="1376870504"/>
                    </a:ext>
                  </a:extLst>
                </a:gridCol>
              </a:tblGrid>
              <a:tr h="98647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Путь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Принимает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Возвращает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Описание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82586011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types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типов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649189801"/>
                  </a:ext>
                </a:extLst>
              </a:tr>
              <a:tr h="59448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recipients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ФИО и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зарегистрированных пользователей.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пользователей системы для отображения их данных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2353237100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positions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должностей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891432839"/>
                  </a:ext>
                </a:extLst>
              </a:tr>
              <a:tr h="33676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departments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и названия отделов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 должностях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856398627"/>
                  </a:ext>
                </a:extLst>
              </a:tr>
              <a:tr h="42266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lastId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инициализации данных об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4030792028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Десять уведомлений, относящихся к пользователю и имеющих меньший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1102365422"/>
                  </a:ext>
                </a:extLst>
              </a:tr>
              <a:tr h="508574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полученного пользователем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Уведомления, относящиеся к пользователю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которых больше полученного в запросе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новых уведомлений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3678555568"/>
                  </a:ext>
                </a:extLst>
              </a:tr>
              <a:tr h="250852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>
                          <a:effectLst/>
                        </a:rPr>
                        <a:t>send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Данные уведомления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отправки уведомлений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011" marR="24011" marT="0" marB="0"/>
                </a:tc>
                <a:extLst>
                  <a:ext uri="{0D108BD9-81ED-4DB2-BD59-A6C34878D82A}">
                    <a16:rowId xmlns:a16="http://schemas.microsoft.com/office/drawing/2014/main" val="744720659"/>
                  </a:ext>
                </a:extLst>
              </a:tr>
            </a:tbl>
          </a:graphicData>
        </a:graphic>
      </p:graphicFrame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8C49D822-94EE-73CA-4003-77BA460473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794903"/>
              </p:ext>
            </p:extLst>
          </p:nvPr>
        </p:nvGraphicFramePr>
        <p:xfrm>
          <a:off x="6447567" y="1407568"/>
          <a:ext cx="2614657" cy="34401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84260">
                  <a:extLst>
                    <a:ext uri="{9D8B030D-6E8A-4147-A177-3AD203B41FA5}">
                      <a16:colId xmlns:a16="http://schemas.microsoft.com/office/drawing/2014/main" val="2452525237"/>
                    </a:ext>
                  </a:extLst>
                </a:gridCol>
                <a:gridCol w="699355">
                  <a:extLst>
                    <a:ext uri="{9D8B030D-6E8A-4147-A177-3AD203B41FA5}">
                      <a16:colId xmlns:a16="http://schemas.microsoft.com/office/drawing/2014/main" val="2294872594"/>
                    </a:ext>
                  </a:extLst>
                </a:gridCol>
                <a:gridCol w="565935">
                  <a:extLst>
                    <a:ext uri="{9D8B030D-6E8A-4147-A177-3AD203B41FA5}">
                      <a16:colId xmlns:a16="http://schemas.microsoft.com/office/drawing/2014/main" val="3358690112"/>
                    </a:ext>
                  </a:extLst>
                </a:gridCol>
                <a:gridCol w="565107">
                  <a:extLst>
                    <a:ext uri="{9D8B030D-6E8A-4147-A177-3AD203B41FA5}">
                      <a16:colId xmlns:a16="http://schemas.microsoft.com/office/drawing/2014/main" val="3507037322"/>
                    </a:ext>
                  </a:extLst>
                </a:gridCol>
              </a:tblGrid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react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 которому привязана реакция,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которое будет отправлено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реакций на уведомления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55850112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unreactedCount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Запрос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оповещений, требующих реакции в том или ином типе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загрузки количества уведомлений, требующих реакции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820560815"/>
                  </a:ext>
                </a:extLst>
              </a:tr>
              <a:tr h="424259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getSendedNotifications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последнего загруженного оповещения 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Двадцать оповещений, следующих после него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данных об отправленных уведомлениях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888524850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996600655"/>
                  </a:ext>
                </a:extLst>
              </a:tr>
              <a:tr h="596721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getCommentsCount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количество комментариев, к которым требуется загрузить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Количество комментариев для каждого из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получения информации о количества комментариев под оповещением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775061689"/>
                  </a:ext>
                </a:extLst>
              </a:tr>
              <a:tr h="338028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getNewComments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Новые комментарии к оповещению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обновления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1475388446"/>
                  </a:ext>
                </a:extLst>
              </a:tr>
              <a:tr h="251797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newComment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оповещения и текст комментария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Статус запроса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Используется для отправки комментариев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3321292779"/>
                  </a:ext>
                </a:extLst>
              </a:tr>
              <a:tr h="510490"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500" dirty="0" err="1">
                          <a:effectLst/>
                        </a:rPr>
                        <a:t>updateSended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Список из </a:t>
                      </a:r>
                      <a:r>
                        <a:rPr lang="en-US" sz="500">
                          <a:effectLst/>
                        </a:rPr>
                        <a:t>id </a:t>
                      </a:r>
                      <a:r>
                        <a:rPr lang="ru-RU" sz="500">
                          <a:effectLst/>
                        </a:rPr>
                        <a:t>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>
                          <a:effectLst/>
                        </a:rPr>
                        <a:t>Данные оповещений</a:t>
                      </a:r>
                      <a:endParaRPr lang="ru-RU" sz="5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ru-RU" sz="500" dirty="0">
                          <a:effectLst/>
                        </a:rPr>
                        <a:t>Используется для обновления данных об отправленных оповещениях</a:t>
                      </a:r>
                      <a:endParaRPr lang="ru-RU" sz="5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24102" marR="24102" marT="0" marB="0"/>
                </a:tc>
                <a:extLst>
                  <a:ext uri="{0D108BD9-81ED-4DB2-BD59-A6C34878D82A}">
                    <a16:rowId xmlns:a16="http://schemas.microsoft.com/office/drawing/2014/main" val="24495960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BE013E0-666E-E78E-B8B2-F1FD4D72B8E5}"/>
              </a:ext>
            </a:extLst>
          </p:cNvPr>
          <p:cNvSpPr txBox="1"/>
          <p:nvPr/>
        </p:nvSpPr>
        <p:spPr>
          <a:xfrm>
            <a:off x="376213" y="1099791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authRouter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D9BA67-C937-C1A8-5F87-8A829A6A3337}"/>
              </a:ext>
            </a:extLst>
          </p:cNvPr>
          <p:cNvSpPr txBox="1"/>
          <p:nvPr/>
        </p:nvSpPr>
        <p:spPr>
          <a:xfrm>
            <a:off x="3969131" y="1043682"/>
            <a:ext cx="3036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Пути в роутере </a:t>
            </a:r>
            <a:r>
              <a:rPr lang="en-US" dirty="0" err="1"/>
              <a:t>notificationRouter</a:t>
            </a:r>
            <a:endParaRPr lang="ru-RU" dirty="0"/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38E9E66-E881-6BE5-9506-2ADF88B273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27646" y="476688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66746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КЛИЕНТСКАЯ ЧАСТЬ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B3F118D-75A0-D090-80CF-E95D607FC9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5" y="1245552"/>
            <a:ext cx="1028468" cy="19550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07FD89E-06FD-80DD-0C00-C18D6634C20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2" y="1245552"/>
            <a:ext cx="3663292" cy="195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6A98611-C5E2-64FF-7E02-2546170B2AB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689" y="1232325"/>
            <a:ext cx="4004007" cy="3339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FD754C5-71C3-6187-B184-B579BEFEA3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322" y="3301592"/>
            <a:ext cx="1577980" cy="1270408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DFFE5826-B6E9-3B4E-CAE9-A0B70155FF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68096" y="481675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11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736858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86B6EED-1664-DB95-447B-1A533915CF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954" y="1148986"/>
            <a:ext cx="3999748" cy="201052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1336522-443E-86AC-8105-DFEF148340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2424" y="1838588"/>
            <a:ext cx="5038392" cy="253759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789908-95BF-A1CF-E5BD-B75C37B1A09F}"/>
              </a:ext>
            </a:extLst>
          </p:cNvPr>
          <p:cNvSpPr txBox="1"/>
          <p:nvPr/>
        </p:nvSpPr>
        <p:spPr>
          <a:xfrm>
            <a:off x="476954" y="3159512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Страница аутентификации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860170-966C-4EE4-261F-3D8946BFA6F5}"/>
              </a:ext>
            </a:extLst>
          </p:cNvPr>
          <p:cNvSpPr txBox="1"/>
          <p:nvPr/>
        </p:nvSpPr>
        <p:spPr>
          <a:xfrm>
            <a:off x="3792424" y="4402790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Главная страница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31A958A-BDE4-502C-973D-B9779D10C38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91649" y="4785653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12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626559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1409E15-A504-00EA-9571-7EAD72B5A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56" y="1167989"/>
            <a:ext cx="4964430" cy="251015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36E5CA6-36F0-9234-B6DC-9D817DA8F2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551" y="1963420"/>
            <a:ext cx="5478145" cy="27514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87B8105-D01B-A31B-9D64-614D979D1CF4}"/>
              </a:ext>
            </a:extLst>
          </p:cNvPr>
          <p:cNvSpPr txBox="1"/>
          <p:nvPr/>
        </p:nvSpPr>
        <p:spPr>
          <a:xfrm>
            <a:off x="602956" y="3734844"/>
            <a:ext cx="24892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уведомлений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FC4631-F76D-7553-15CF-EDD356833F5A}"/>
              </a:ext>
            </a:extLst>
          </p:cNvPr>
          <p:cNvSpPr txBox="1"/>
          <p:nvPr/>
        </p:nvSpPr>
        <p:spPr>
          <a:xfrm>
            <a:off x="3523551" y="4715548"/>
            <a:ext cx="26393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Отправленные уведомления</a:t>
            </a: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F541548F-C269-5782-BFFB-6641B2E118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68096" y="474948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13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230235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810107" y="483518"/>
            <a:ext cx="602070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ИНТЕРФЕЙС КЛИЕНТСКОЙ ЧАСТИ</a:t>
            </a:r>
            <a:endParaRPr sz="24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C49088C-F1E3-C6FD-C7E1-8DB4B70EB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470" y="1108592"/>
            <a:ext cx="6383059" cy="32000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A14F44A-5F71-3240-DCDA-2B9725C78DA7}"/>
              </a:ext>
            </a:extLst>
          </p:cNvPr>
          <p:cNvSpPr txBox="1"/>
          <p:nvPr/>
        </p:nvSpPr>
        <p:spPr>
          <a:xfrm>
            <a:off x="3613783" y="4308635"/>
            <a:ext cx="315872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Регистрация новых сотрудников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29D82BA-F282-B413-EB39-85F3773C03B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85265" y="4770340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14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776817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360000">
              <a:spcAft>
                <a:spcPts val="1000"/>
              </a:spcAft>
              <a:buNone/>
            </a:pP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Целью создаваемой системы является повышение эффективности сотрудников компании за счет использования «реакций» и возможности массовой рассылки оповещений. В конечном итоге ожидается снижение времени на взаимодействие между сотрудниками до 50%.</a:t>
            </a:r>
            <a:endParaRPr lang="ru-RU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360000">
              <a:spcAft>
                <a:spcPts val="1000"/>
              </a:spcAft>
              <a:buNone/>
            </a:pP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Если допустить, что сотрудники в среднем тратят 1 час в день на взаимодействие между собой, а в году 200 рабочих дней, то при средней стоимости часа работы в 300р затраты на взаимодействие сотрудников составляют 60000р в год</a:t>
            </a:r>
            <a:r>
              <a:rPr lang="en-US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на человека.</a:t>
            </a:r>
          </a:p>
          <a:p>
            <a:pPr marL="0" indent="360000">
              <a:spcAft>
                <a:spcPts val="1000"/>
              </a:spcAft>
              <a:buNone/>
            </a:pP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 снижении времени взаимодействия на 50% получается экономия 30000р в год за каждого сотрудника.</a:t>
            </a:r>
          </a:p>
          <a:p>
            <a:pPr marL="0" indent="360000">
              <a:spcAft>
                <a:spcPts val="1000"/>
              </a:spcAft>
              <a:buNone/>
            </a:pP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Предположим, что в компании работает 50 человек. Таким образом компания сможет экономить 1500000р в год.</a:t>
            </a:r>
          </a:p>
          <a:p>
            <a:pPr marL="0" indent="360000">
              <a:spcAft>
                <a:spcPts val="1000"/>
              </a:spcAft>
              <a:buNone/>
            </a:pPr>
            <a:r>
              <a:rPr lang="ru-RU" sz="14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При стоимости программы в 500000р и всей требуемой инфраструктуры в 1000000р. Срок окупаемости составит 1,5года. </a:t>
            </a:r>
          </a:p>
          <a:p>
            <a:pPr indent="0">
              <a:lnSpc>
                <a:spcPct val="150000"/>
              </a:lnSpc>
              <a:spcAft>
                <a:spcPts val="1000"/>
              </a:spcAft>
              <a:buNone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074127" y="483518"/>
            <a:ext cx="6756689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ТЕХНИКО-ЭКОНОМИЧЕСКОЕ ОБОСНАВАНИЕ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66899" y="475089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15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3156056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4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4"/>
          <p:cNvSpPr txBox="1">
            <a:spLocks noGrp="1"/>
          </p:cNvSpPr>
          <p:nvPr>
            <p:ph type="body" idx="1"/>
          </p:nvPr>
        </p:nvSpPr>
        <p:spPr>
          <a:xfrm>
            <a:off x="467544" y="1215405"/>
            <a:ext cx="8454783" cy="3444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360000" algn="just"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Доступ к системе имеют только аутентифицированные пользователи. Регистрация новых пользователей и управление их данными в системе доступно для работников отдела кадром имеющих, соответствующие права доступа.</a:t>
            </a:r>
          </a:p>
          <a:p>
            <a:pPr marL="0" indent="360000" algn="just"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Целостность информации обеспечивается валидацией вводимых пользователем данных как на стороне клиента, так и на стороне сервера. </a:t>
            </a:r>
          </a:p>
          <a:p>
            <a:pPr marL="0" indent="360000" algn="just"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Для защиты от несанкционированного доступа к системе должен применяться перечень технических и организационных мер.</a:t>
            </a:r>
          </a:p>
          <a:p>
            <a:pPr marL="0" indent="360000" algn="just"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Также повышение уровня защитности может обеспечить возможность установки системы локально, без доступа к внешней сети.</a:t>
            </a:r>
          </a:p>
          <a:p>
            <a:pPr marL="0" indent="360000" algn="just">
              <a:buNone/>
            </a:pPr>
            <a:r>
              <a:rPr lang="ru-RU" sz="12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Тщательной проработки требуют части системы касающиеся:</a:t>
            </a:r>
          </a:p>
          <a:p>
            <a:pPr marL="720000" lvl="0" indent="-342900" algn="just">
              <a:buFont typeface="Symbol" panose="05050102010706020507" pitchFamily="18" charset="2"/>
              <a:buChar char=""/>
            </a:pPr>
            <a:r>
              <a:rPr lang="ru-RU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хранения событий безопасности</a:t>
            </a:r>
            <a:r>
              <a:rPr lang="en-US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endParaRPr lang="ru-RU" sz="1200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720000" lvl="0" indent="-342900" algn="just">
              <a:buFont typeface="Symbol" panose="05050102010706020507" pitchFamily="18" charset="2"/>
              <a:buChar char=""/>
            </a:pPr>
            <a:r>
              <a:rPr lang="ru-RU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обнаружения вторжений</a:t>
            </a:r>
            <a:r>
              <a:rPr lang="en-US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endParaRPr lang="ru-RU" sz="1200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720000" lvl="0" indent="-342900" algn="just">
              <a:buFont typeface="Symbol" panose="05050102010706020507" pitchFamily="18" charset="2"/>
              <a:buChar char=""/>
            </a:pPr>
            <a:r>
              <a:rPr lang="ru-RU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ограничения неуспешных попыток аутентификации</a:t>
            </a:r>
            <a:r>
              <a:rPr lang="en-US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  <a:endParaRPr lang="ru-RU" sz="1200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720000" lvl="0" indent="-342900" algn="just">
              <a:buFont typeface="Symbol" panose="05050102010706020507" pitchFamily="18" charset="2"/>
              <a:buChar char=""/>
            </a:pPr>
            <a:r>
              <a:rPr lang="ru-RU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резервного копирования</a:t>
            </a:r>
            <a:r>
              <a:rPr lang="en-US" sz="1200" dirty="0">
                <a:solidFill>
                  <a:srgbClr val="000000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.</a:t>
            </a:r>
            <a:endParaRPr lang="ru-RU" sz="1200" dirty="0">
              <a:solidFill>
                <a:srgbClr val="000000"/>
              </a:solidFill>
              <a:effectLst/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indent="0">
              <a:lnSpc>
                <a:spcPct val="150000"/>
              </a:lnSpc>
              <a:spcAft>
                <a:spcPts val="1000"/>
              </a:spcAft>
              <a:buNone/>
            </a:pP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7" name="Google Shape;107;p4"/>
          <p:cNvSpPr txBox="1">
            <a:spLocks noGrp="1"/>
          </p:cNvSpPr>
          <p:nvPr>
            <p:ph type="title"/>
          </p:nvPr>
        </p:nvSpPr>
        <p:spPr>
          <a:xfrm>
            <a:off x="2074127" y="483518"/>
            <a:ext cx="6926372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ОБЕСПЕЧЕНИЕ ТРЕБОВАНИЙ О ЗАЩИТЕ ИНФОРМАЦИИ 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7D5FDE3C-895A-F7AA-7B2B-C23D3E14CBA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66899" y="4750891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16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16207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"/>
          <p:cNvSpPr/>
          <p:nvPr/>
        </p:nvSpPr>
        <p:spPr>
          <a:xfrm>
            <a:off x="0" y="-184666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5"/>
          <p:cNvSpPr txBox="1">
            <a:spLocks noGrp="1"/>
          </p:cNvSpPr>
          <p:nvPr>
            <p:ph type="body" idx="1"/>
          </p:nvPr>
        </p:nvSpPr>
        <p:spPr>
          <a:xfrm>
            <a:off x="337443" y="1203598"/>
            <a:ext cx="8429625" cy="3071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написания ВКР была проанализирована и описана информационная система и её конкуренты.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ходе проектирования системы была описана её структура, функционал и процессы, происходящие как при взаимодействии между пользователем и системой, так и между элементами самой системы.</a:t>
            </a:r>
            <a:endParaRPr lang="ru-RU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Был описан процесс разработки базы данных, серверной части и клиентской части приложения.</a:t>
            </a:r>
          </a:p>
          <a:p>
            <a:pPr marL="0" indent="360000">
              <a:spcBef>
                <a:spcPts val="0"/>
              </a:spcBef>
              <a:buSzPts val="2000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конечном итоге было приведено технико-экономическое обоснование проекта, определение класса защищенности системы, функциональное тестирование.</a:t>
            </a:r>
          </a:p>
          <a:p>
            <a:pPr marL="0" indent="360000">
              <a:spcBef>
                <a:spcPts val="0"/>
              </a:spcBef>
              <a:buSzPts val="2000"/>
              <a:buNone/>
            </a:pPr>
            <a:r>
              <a:rPr lang="ru-RU" sz="1600" dirty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В дальнейшем планируется работа над интерфейсом веб приложения, расширением возможностей рассылки оповещений и предоставление возможности прикрепления документов к уведомлениям.</a:t>
            </a:r>
          </a:p>
          <a:p>
            <a:pPr marL="0" lvl="0" indent="360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sz="2000" dirty="0">
              <a:latin typeface="Roboto"/>
              <a:ea typeface="Roboto"/>
              <a:cs typeface="Roboto"/>
              <a:sym typeface="Roboto"/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</a:pPr>
            <a:endParaRPr sz="17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" name="Google Shape;116;p5"/>
          <p:cNvSpPr txBox="1">
            <a:spLocks noGrp="1"/>
          </p:cNvSpPr>
          <p:nvPr>
            <p:ph type="title"/>
          </p:nvPr>
        </p:nvSpPr>
        <p:spPr>
          <a:xfrm>
            <a:off x="4860032" y="483518"/>
            <a:ext cx="3970784" cy="5040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ru-RU" sz="24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ЗАКЛЮЧЕНИЕ</a:t>
            </a: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8EC553FC-6FF4-529E-00BB-2C8D22ADDB3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45424" y="4757836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17</a:t>
            </a:fld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068980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"/>
          <p:cNvSpPr txBox="1"/>
          <p:nvPr/>
        </p:nvSpPr>
        <p:spPr>
          <a:xfrm>
            <a:off x="12184" y="1851670"/>
            <a:ext cx="9144000" cy="7078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ru-RU" sz="40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СПАСИБО ЗА ВНИМАНИЕ!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6"/>
          <p:cNvSpPr txBox="1"/>
          <p:nvPr/>
        </p:nvSpPr>
        <p:spPr>
          <a:xfrm>
            <a:off x="4913971" y="3715576"/>
            <a:ext cx="4093476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Мехоношин Владислав Антонович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тел.: 8-952-318-65-68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ru-RU" sz="1800" b="0" i="0" u="none" strike="noStrike" cap="none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e-mail</a:t>
            </a:r>
            <a:r>
              <a:rPr lang="ru-RU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800" b="0" i="0" u="none" strike="noStrike" cap="none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vladmexon@gmail.com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C973438B-C828-66BE-428F-3384D885AB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6873847" y="4729556"/>
            <a:ext cx="2133600" cy="273844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</a:t>
            </a:r>
            <a:r>
              <a:rPr lang="ru-RU" dirty="0"/>
              <a:t>8</a:t>
            </a:r>
            <a:r>
              <a:rPr lang="en-US" dirty="0"/>
              <a:t>/1</a:t>
            </a:r>
            <a:r>
              <a:rPr lang="ru-RU" dirty="0"/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1942</Words>
  <Application>Microsoft Office PowerPoint</Application>
  <PresentationFormat>Экран (16:9)</PresentationFormat>
  <Paragraphs>260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4" baseType="lpstr">
      <vt:lpstr>Times New Roman</vt:lpstr>
      <vt:lpstr>Symbol</vt:lpstr>
      <vt:lpstr>Roboto</vt:lpstr>
      <vt:lpstr>Calibri</vt:lpstr>
      <vt:lpstr>Arial</vt:lpstr>
      <vt:lpstr>Тема Office</vt:lpstr>
      <vt:lpstr>ВЫПУСКНАЯ КВАЛИФИКАЦИОННАЯ РАБОТА на соискание академической степени бакалавра на тему</vt:lpstr>
      <vt:lpstr>ЦЕЛЬ И ЗАДАЧИ</vt:lpstr>
      <vt:lpstr>АКУТУАЛЬНОСТЬ</vt:lpstr>
      <vt:lpstr>КОНКУРЕНТОСПОСОБНОСТЬ</vt:lpstr>
      <vt:lpstr>КОНКУРЕНТОСПОСОБНОСТЬ</vt:lpstr>
      <vt:lpstr>ТРЕБОВАНИЯ К СИСТЕМЕ</vt:lpstr>
      <vt:lpstr>ФУНКЦИОНАЛЬНЫЕ ВОЗМОЖНОСТИ</vt:lpstr>
      <vt:lpstr>АРХИТЕКТУРА СИСТЕМЫ</vt:lpstr>
      <vt:lpstr>БАЗА ДАННЫХ</vt:lpstr>
      <vt:lpstr>СЕРВЕРНАЯ ЧАСТЬ</vt:lpstr>
      <vt:lpstr>КЛИЕНТСКАЯ ЧАСТЬ</vt:lpstr>
      <vt:lpstr>ИНТЕРФЕЙС КЛИЕНТСКОЙ ЧАСТИ</vt:lpstr>
      <vt:lpstr>ИНТЕРФЕЙС КЛИЕНТСКОЙ ЧАСТИ</vt:lpstr>
      <vt:lpstr>ИНТЕРФЕЙС КЛИЕНТСКОЙ ЧАСТИ</vt:lpstr>
      <vt:lpstr>ТЕХНИКО-ЭКОНОМИЧЕСКОЕ ОБОСНАВАНИЕ</vt:lpstr>
      <vt:lpstr>ОБЕСПЕЧЕНИЕ ТРЕБОВАНИЙ О ЗАЩИТЕ ИНФОРМАЦИИ </vt:lpstr>
      <vt:lpstr>ЗАКЛЮЧЕНИЕ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Владислав Мехоношин</dc:creator>
  <cp:lastModifiedBy>Владислав Мехоношин</cp:lastModifiedBy>
  <cp:revision>21</cp:revision>
  <dcterms:modified xsi:type="dcterms:W3CDTF">2024-06-10T15:45:19Z</dcterms:modified>
</cp:coreProperties>
</file>